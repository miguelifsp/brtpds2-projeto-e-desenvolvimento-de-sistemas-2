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79" r:id="rId9"/>
    <p:sldId id="262" r:id="rId10"/>
    <p:sldId id="280" r:id="rId11"/>
    <p:sldId id="263" r:id="rId12"/>
    <p:sldId id="264" r:id="rId13"/>
    <p:sldId id="274" r:id="rId14"/>
    <p:sldId id="265" r:id="rId15"/>
    <p:sldId id="272" r:id="rId16"/>
    <p:sldId id="266" r:id="rId17"/>
    <p:sldId id="267" r:id="rId18"/>
    <p:sldId id="275" r:id="rId19"/>
    <p:sldId id="268" r:id="rId20"/>
    <p:sldId id="269" r:id="rId21"/>
    <p:sldId id="277" r:id="rId22"/>
    <p:sldId id="271" r:id="rId23"/>
    <p:sldId id="276" r:id="rId24"/>
  </p:sldIdLst>
  <p:sldSz cx="12192000" cy="6858000"/>
  <p:notesSz cx="12192000" cy="6858000"/>
  <p:defaultTextStyle>
    <a:defPPr>
      <a:defRPr lang="pt-B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2BB39FE-9C42-69D8-04EC-AC500937AE76}">
  <a:tblStyle styleId="{C2BB39FE-9C42-69D8-04EC-AC500937AE76}" styleName="Medium Style 2 - Accent 1">
    <a:wholeTbl>
      <a:tcTxStyle>
        <a:fontRef idx="minor"/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/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/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/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/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 userDrawn="1">
  <p:cSld name="Slide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 bwMode="auto"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 bwMode="auto"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>
              <a:defRPr/>
            </a:pPr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4F23C442-C616-4505-B16A-331FB15D015A}" type="datetimeFigureOut">
              <a:rPr lang="pt-BR"/>
              <a:t>28/07/2026</a:t>
            </a:fld>
            <a:endParaRPr lang="pt-BR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  <p:sp>
        <p:nvSpPr>
          <p:cNvPr id="9" name="Rectangle 6"/>
          <p:cNvSpPr/>
          <p:nvPr/>
        </p:nvSpPr>
        <p:spPr bwMode="auto"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ítulo e conteúd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23C442-C616-4505-B16A-331FB15D015A}" type="datetimeFigureOut">
              <a:rPr lang="pt-BR"/>
              <a:t>28/07/2026</a:t>
            </a:fld>
            <a:endParaRPr lang="pt-BR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Cabeçalho da Se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23C442-C616-4505-B16A-331FB15D015A}" type="datetimeFigureOut">
              <a:rPr lang="pt-BR"/>
              <a:t>28/07/2026</a:t>
            </a:fld>
            <a:endParaRPr lang="pt-BR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  <p:sp>
        <p:nvSpPr>
          <p:cNvPr id="9" name="Rectangle 6"/>
          <p:cNvSpPr/>
          <p:nvPr/>
        </p:nvSpPr>
        <p:spPr bwMode="auto"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uas Partes de Conteúd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23C442-C616-4505-B16A-331FB15D015A}" type="datetimeFigureOut">
              <a:rPr lang="pt-BR"/>
              <a:t>28/07/2026</a:t>
            </a:fld>
            <a:endParaRPr lang="pt-BR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a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>
              <a:lnSpc>
                <a:spcPct val="90000"/>
              </a:lnSpc>
              <a:spcBef>
                <a:spcPts val="2000"/>
              </a:spcBef>
              <a:buFontTx/>
              <a:buNone/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23C442-C616-4505-B16A-331FB15D015A}" type="datetimeFigureOut">
              <a:rPr lang="pt-BR"/>
              <a:t>28/07/2026</a:t>
            </a:fld>
            <a:endParaRPr lang="pt-BR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Soment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23C442-C616-4505-B16A-331FB15D015A}" type="datetimeFigureOut">
              <a:rPr lang="pt-BR"/>
              <a:t>28/07/2026</a:t>
            </a:fld>
            <a:endParaRPr lang="pt-BR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Em br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23C442-C616-4505-B16A-331FB15D015A}" type="datetimeFigureOut">
              <a:rPr lang="pt-BR"/>
              <a:t>28/07/2026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údo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 bwMode="auto"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3999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23C442-C616-4505-B16A-331FB15D015A}" type="datetimeFigureOut">
              <a:rPr lang="pt-BR"/>
              <a:t>28/07/2026</a:t>
            </a:fld>
            <a:endParaRPr lang="pt-BR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Imagem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/>
          <p:nvPr/>
        </p:nvSpPr>
        <p:spPr bwMode="auto">
          <a:xfrm>
            <a:off x="0" y="5105400"/>
            <a:ext cx="11292840" cy="17525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itle 1"/>
          <p:cNvSpPr>
            <a:spLocks noGrp="1"/>
          </p:cNvSpPr>
          <p:nvPr>
            <p:ph type="title"/>
          </p:nvPr>
        </p:nvSpPr>
        <p:spPr bwMode="auto"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0" y="0"/>
            <a:ext cx="11292840" cy="5128923"/>
          </a:xfrm>
          <a:prstGeom prst="rect">
            <a:avLst/>
          </a:prstGeom>
          <a:blipFill>
            <a:blip r:embed="rId2"/>
            <a:stretch/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23C442-C616-4505-B16A-331FB15D015A}" type="datetimeFigureOut">
              <a:rPr lang="pt-BR"/>
              <a:t>28/07/2026</a:t>
            </a:fld>
            <a:endParaRPr lang="pt-BR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ítulo e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23C442-C616-4505-B16A-331FB15D015A}" type="datetimeFigureOut">
              <a:rPr lang="pt-BR"/>
              <a:t>28/07/2026</a:t>
            </a:fld>
            <a:endParaRPr lang="pt-BR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Título e texto vertica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648700" y="381000"/>
            <a:ext cx="2476500" cy="5897562"/>
          </a:xfrm>
        </p:spPr>
        <p:txBody>
          <a:bodyPr vert="eaVert"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762000" y="381000"/>
            <a:ext cx="7734300" cy="5897562"/>
          </a:xfrm>
        </p:spPr>
        <p:txBody>
          <a:bodyPr vert="eaVert"/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23C442-C616-4505-B16A-331FB15D015A}" type="datetimeFigureOut">
              <a:rPr lang="pt-BR"/>
              <a:t>28/07/2026</a:t>
            </a:fld>
            <a:endParaRPr lang="pt-BR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 bwMode="auto"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 bwMode="auto"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 bwMode="auto">
          <a:xfrm rot="16199999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fld id="{4F23C442-C616-4505-B16A-331FB15D015A}" type="datetimeFigureOut">
              <a:rPr lang="pt-BR"/>
              <a:t>28/07/2026</a:t>
            </a:fld>
            <a:endParaRPr lang="pt-BR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 bwMode="auto">
          <a:xfrm rot="16199999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 spc="-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/>
        <a:buChar char="•"/>
        <a:defRPr sz="1800" spc="1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/>
        <a:buChar char=""/>
        <a:defRPr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/>
        <a:buChar char=""/>
        <a:defRPr sz="14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/>
        <a:buChar char=""/>
        <a:defRPr sz="14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/>
        <a:buChar char=""/>
        <a:defRPr sz="14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/>
        <a:buChar char=""/>
        <a:defRPr sz="14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/>
        <a:buChar char=""/>
        <a:defRPr sz="14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/>
        <a:buChar char=""/>
        <a:defRPr sz="14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/>
        <a:buChar char=""/>
        <a:defRPr sz="14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rgbClr val="007000">
                <a:lumMod val="99000"/>
                <a:lumOff val="1000"/>
                <a:alpha val="76000"/>
              </a:srgbClr>
            </a:gs>
            <a:gs pos="100000">
              <a:srgbClr val="00600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ctr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6000"/>
              <a:t>Projeto e Desenvolvimento de Sistemas II</a:t>
            </a:r>
            <a:endParaRPr/>
          </a:p>
        </p:txBody>
      </p:sp>
      <p:sp>
        <p:nvSpPr>
          <p:cNvPr id="5" name="Subtítulo 2"/>
          <p:cNvSpPr>
            <a:spLocks noGrp="1"/>
          </p:cNvSpPr>
          <p:nvPr>
            <p:ph type="subTitle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2000">
                <a:solidFill>
                  <a:schemeClr val="tx1"/>
                </a:solidFill>
              </a:rPr>
              <a:t>Tecnologia em Análise e Desenvolvimento de Sistemas</a:t>
            </a:r>
            <a:endParaRPr/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680192" y="0"/>
            <a:ext cx="1511808" cy="1750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800"/>
              <a:t>Informações da disciplina</a:t>
            </a:r>
            <a:endParaRPr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3600" dirty="0"/>
              <a:t>Aulas</a:t>
            </a:r>
            <a:endParaRPr lang="pt-BR" dirty="0"/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200" dirty="0">
                <a:solidFill>
                  <a:schemeClr val="tx1"/>
                </a:solidFill>
              </a:rPr>
              <a:t> Sextas-feiras, 19:00 – 22:15;</a:t>
            </a:r>
            <a:endParaRPr lang="pt-BR" dirty="0"/>
          </a:p>
          <a:p>
            <a:pPr>
              <a:defRPr/>
            </a:pPr>
            <a:r>
              <a:rPr lang="pt-BR" sz="3600" dirty="0"/>
              <a:t>Objetivos</a:t>
            </a:r>
            <a:endParaRPr dirty="0"/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200" dirty="0">
                <a:solidFill>
                  <a:schemeClr val="tx1"/>
                </a:solidFill>
              </a:rPr>
              <a:t> Planejar, analisar, desenvolver e entregar um </a:t>
            </a:r>
            <a:r>
              <a:rPr lang="pt-BR" sz="3200" i="1" dirty="0">
                <a:solidFill>
                  <a:schemeClr val="tx1"/>
                </a:solidFill>
              </a:rPr>
              <a:t>software</a:t>
            </a:r>
            <a:r>
              <a:rPr lang="pt-BR" sz="3200" dirty="0">
                <a:solidFill>
                  <a:schemeClr val="tx1"/>
                </a:solidFill>
              </a:rPr>
              <a:t> comercial a partir do conhecimento obtido durante o curso.</a:t>
            </a:r>
            <a:endParaRPr lang="pt-BR" sz="3200" dirty="0"/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800"/>
              <a:t>Bibliografia</a:t>
            </a:r>
            <a:endParaRPr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304800" y="1622612"/>
            <a:ext cx="10739718" cy="5235388"/>
          </a:xfrm>
        </p:spPr>
        <p:txBody>
          <a:bodyPr>
            <a:noAutofit/>
          </a:bodyPr>
          <a:lstStyle/>
          <a:p>
            <a:pPr indent="0">
              <a:lnSpc>
                <a:spcPct val="100000"/>
              </a:lnSpc>
              <a:defRPr/>
            </a:pPr>
            <a:r>
              <a:rPr lang="pt-BR" sz="3200"/>
              <a:t>Básica</a:t>
            </a:r>
            <a:endParaRPr/>
          </a:p>
          <a:p>
            <a:pPr lvl="1">
              <a:lnSpc>
                <a:spcPct val="100000"/>
              </a:lnSpc>
              <a:buClr>
                <a:schemeClr val="accent1"/>
              </a:buClr>
              <a:buFont typeface="Arial"/>
              <a:buChar char="•"/>
              <a:defRPr/>
            </a:pPr>
            <a:r>
              <a:rPr lang="pt-BR">
                <a:solidFill>
                  <a:schemeClr val="tx1"/>
                </a:solidFill>
              </a:rPr>
              <a:t>ELMASRI, R.; NAVATHE, S. B. </a:t>
            </a:r>
            <a:r>
              <a:rPr lang="pt-BR" b="1">
                <a:solidFill>
                  <a:schemeClr val="tx1"/>
                </a:solidFill>
              </a:rPr>
              <a:t>Sistemas de banco de dados</a:t>
            </a:r>
            <a:r>
              <a:rPr lang="pt-BR">
                <a:solidFill>
                  <a:schemeClr val="tx1"/>
                </a:solidFill>
              </a:rPr>
              <a:t>. 6. ed. São Paulo: Pearson Prentice Hall, 2011. 788 p.</a:t>
            </a:r>
            <a:endParaRPr/>
          </a:p>
          <a:p>
            <a:pPr lvl="1">
              <a:lnSpc>
                <a:spcPct val="100000"/>
              </a:lnSpc>
              <a:buClr>
                <a:schemeClr val="accent1"/>
              </a:buClr>
              <a:buFont typeface="Arial"/>
              <a:buChar char="•"/>
              <a:defRPr/>
            </a:pPr>
            <a:r>
              <a:rPr lang="pt-BR">
                <a:solidFill>
                  <a:schemeClr val="tx1"/>
                </a:solidFill>
              </a:rPr>
              <a:t>MACHADO, F. N. R. </a:t>
            </a:r>
            <a:r>
              <a:rPr lang="pt-BR" b="1">
                <a:solidFill>
                  <a:schemeClr val="tx1"/>
                </a:solidFill>
              </a:rPr>
              <a:t>Análise e gestão de requisitos de software</a:t>
            </a:r>
            <a:r>
              <a:rPr lang="pt-BR">
                <a:solidFill>
                  <a:schemeClr val="tx1"/>
                </a:solidFill>
              </a:rPr>
              <a:t>: onde nascem os sistemas. 2. ed. São Paulo: Érica, 2014. 288 p.</a:t>
            </a:r>
            <a:endParaRPr/>
          </a:p>
          <a:p>
            <a:pPr lvl="1">
              <a:lnSpc>
                <a:spcPct val="100000"/>
              </a:lnSpc>
              <a:buClr>
                <a:schemeClr val="accent1"/>
              </a:buClr>
              <a:buFont typeface="Arial"/>
              <a:buChar char="•"/>
              <a:defRPr/>
            </a:pPr>
            <a:r>
              <a:rPr lang="pt-BR">
                <a:solidFill>
                  <a:schemeClr val="tx1"/>
                </a:solidFill>
              </a:rPr>
              <a:t>SOMMERVILLE, I. </a:t>
            </a:r>
            <a:r>
              <a:rPr lang="pt-BR" b="1">
                <a:solidFill>
                  <a:schemeClr val="tx1"/>
                </a:solidFill>
              </a:rPr>
              <a:t>Engenharia de software</a:t>
            </a:r>
            <a:r>
              <a:rPr lang="pt-BR">
                <a:solidFill>
                  <a:schemeClr val="tx1"/>
                </a:solidFill>
              </a:rPr>
              <a:t>. 9. ed. São Paulo: Pearson Prentice Hall, 2011. 529 p. </a:t>
            </a:r>
            <a:endParaRPr/>
          </a:p>
          <a:p>
            <a:pPr indent="0">
              <a:lnSpc>
                <a:spcPct val="100000"/>
              </a:lnSpc>
              <a:defRPr/>
            </a:pPr>
            <a:r>
              <a:rPr lang="pt-BR" sz="3200"/>
              <a:t>Complementar</a:t>
            </a:r>
            <a:endParaRPr/>
          </a:p>
          <a:p>
            <a:pPr lvl="1">
              <a:lnSpc>
                <a:spcPct val="100000"/>
              </a:lnSpc>
              <a:buClr>
                <a:schemeClr val="accent1"/>
              </a:buClr>
              <a:buFont typeface="Arial"/>
              <a:buChar char="•"/>
              <a:defRPr/>
            </a:pPr>
            <a:r>
              <a:rPr lang="pt-BR">
                <a:solidFill>
                  <a:schemeClr val="tx1"/>
                </a:solidFill>
              </a:rPr>
              <a:t>BLAHA, M.; RUMBAUGH, J. </a:t>
            </a:r>
            <a:r>
              <a:rPr lang="pt-BR" b="1">
                <a:solidFill>
                  <a:schemeClr val="tx1"/>
                </a:solidFill>
              </a:rPr>
              <a:t>Modelagem e projetos baseados em objetos com UML 2</a:t>
            </a:r>
            <a:r>
              <a:rPr lang="pt-BR">
                <a:solidFill>
                  <a:schemeClr val="tx1"/>
                </a:solidFill>
              </a:rPr>
              <a:t>. 2. ed. Rio de Janeiro: Elsevier, c2006. 496 p.</a:t>
            </a:r>
            <a:endParaRPr/>
          </a:p>
          <a:p>
            <a:pPr lvl="1">
              <a:lnSpc>
                <a:spcPct val="100000"/>
              </a:lnSpc>
              <a:buClr>
                <a:schemeClr val="accent1"/>
              </a:buClr>
              <a:buFont typeface="Arial"/>
              <a:buChar char="•"/>
              <a:defRPr/>
            </a:pPr>
            <a:r>
              <a:rPr lang="pt-BR">
                <a:solidFill>
                  <a:schemeClr val="tx1"/>
                </a:solidFill>
              </a:rPr>
              <a:t>BOOCH, G.; RUMBAUGH, J.; JACOBSON, I. </a:t>
            </a:r>
            <a:r>
              <a:rPr lang="pt-BR" b="1">
                <a:solidFill>
                  <a:schemeClr val="tx1"/>
                </a:solidFill>
              </a:rPr>
              <a:t>UML</a:t>
            </a:r>
            <a:r>
              <a:rPr lang="pt-BR">
                <a:solidFill>
                  <a:schemeClr val="tx1"/>
                </a:solidFill>
              </a:rPr>
              <a:t>: guia do usuário. 2. ed. Rio de Janeiro: Elsevier, 2012. 521 p.</a:t>
            </a:r>
            <a:endParaRPr/>
          </a:p>
          <a:p>
            <a:pPr lvl="1">
              <a:lnSpc>
                <a:spcPct val="100000"/>
              </a:lnSpc>
              <a:buClr>
                <a:schemeClr val="accent1"/>
              </a:buClr>
              <a:buFont typeface="Arial"/>
              <a:buChar char="•"/>
              <a:defRPr/>
            </a:pPr>
            <a:r>
              <a:rPr lang="pt-BR">
                <a:solidFill>
                  <a:schemeClr val="tx1"/>
                </a:solidFill>
              </a:rPr>
              <a:t>DEITEL, P.; DEITEL, H. </a:t>
            </a:r>
            <a:r>
              <a:rPr lang="pt-BR" b="1">
                <a:solidFill>
                  <a:schemeClr val="tx1"/>
                </a:solidFill>
              </a:rPr>
              <a:t>Java como programar</a:t>
            </a:r>
            <a:r>
              <a:rPr lang="pt-BR">
                <a:solidFill>
                  <a:schemeClr val="tx1"/>
                </a:solidFill>
              </a:rPr>
              <a:t>. 8. ed. São Paulo: Pearson Education do Brasil, 2010. 1144 p.</a:t>
            </a:r>
            <a:endParaRPr/>
          </a:p>
          <a:p>
            <a:pPr lvl="1">
              <a:lnSpc>
                <a:spcPct val="100000"/>
              </a:lnSpc>
              <a:buClr>
                <a:schemeClr val="accent1"/>
              </a:buClr>
              <a:buFont typeface="Arial"/>
              <a:buChar char="•"/>
              <a:defRPr/>
            </a:pPr>
            <a:r>
              <a:rPr lang="pt-BR">
                <a:solidFill>
                  <a:schemeClr val="tx1"/>
                </a:solidFill>
              </a:rPr>
              <a:t>PREISS, B. R. </a:t>
            </a:r>
            <a:r>
              <a:rPr lang="pt-BR" b="1">
                <a:solidFill>
                  <a:schemeClr val="tx1"/>
                </a:solidFill>
              </a:rPr>
              <a:t>Estruturas de dados e algoritmos</a:t>
            </a:r>
            <a:r>
              <a:rPr lang="pt-BR">
                <a:solidFill>
                  <a:schemeClr val="tx1"/>
                </a:solidFill>
              </a:rPr>
              <a:t>: padrões de projetos orientados a objetos com Java. Rio de Janeiro: Campus, 2000. 566 p.</a:t>
            </a:r>
            <a:endParaRPr/>
          </a:p>
          <a:p>
            <a:pPr lvl="1">
              <a:lnSpc>
                <a:spcPct val="100000"/>
              </a:lnSpc>
              <a:buClr>
                <a:schemeClr val="accent1"/>
              </a:buClr>
              <a:buFont typeface="Arial"/>
              <a:buChar char="•"/>
              <a:defRPr/>
            </a:pPr>
            <a:r>
              <a:rPr lang="pt-BR">
                <a:solidFill>
                  <a:schemeClr val="tx1"/>
                </a:solidFill>
              </a:rPr>
              <a:t>ROBINSON, S. et al. </a:t>
            </a:r>
            <a:r>
              <a:rPr lang="pt-BR" b="1">
                <a:solidFill>
                  <a:schemeClr val="tx1"/>
                </a:solidFill>
              </a:rPr>
              <a:t>Professional C# programando</a:t>
            </a:r>
            <a:r>
              <a:rPr lang="pt-BR">
                <a:solidFill>
                  <a:schemeClr val="tx1"/>
                </a:solidFill>
              </a:rPr>
              <a:t>: de programador para programador. São Paulo: Pearson Education, 2004. 1124 p.</a:t>
            </a:r>
            <a:endParaRPr lang="pt-BR" sz="240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defRPr/>
            </a:pPr>
            <a:endParaRPr lang="pt-BR" sz="2800">
              <a:solidFill>
                <a:schemeClr val="tx1"/>
              </a:solidFill>
            </a:endParaRP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800"/>
              <a:t>Execução</a:t>
            </a:r>
            <a:endParaRPr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261870" y="1828800"/>
            <a:ext cx="8931994" cy="4757388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 fontScale="90000" lnSpcReduction="2000"/>
          </a:bodyPr>
          <a:lstStyle/>
          <a:p>
            <a:pPr>
              <a:defRPr/>
            </a:pPr>
            <a:r>
              <a:rPr lang="pt-BR" sz="3600" dirty="0"/>
              <a:t>Será desenvolvido um sistema</a:t>
            </a:r>
            <a:r>
              <a:rPr lang="pt-BR" sz="3600" i="1" dirty="0"/>
              <a:t> </a:t>
            </a:r>
            <a:r>
              <a:rPr lang="pt-BR" sz="3600" i="0" dirty="0"/>
              <a:t>(código e documentação) no decorrer da disciplina.</a:t>
            </a:r>
          </a:p>
          <a:p>
            <a:pPr>
              <a:defRPr/>
            </a:pPr>
            <a:r>
              <a:rPr lang="pt-BR" sz="3600" i="0" dirty="0"/>
              <a:t>Este </a:t>
            </a:r>
            <a:r>
              <a:rPr lang="pt-BR" sz="3600" dirty="0"/>
              <a:t>sistema</a:t>
            </a:r>
            <a:r>
              <a:rPr lang="pt-BR" sz="3600" i="1" dirty="0"/>
              <a:t> </a:t>
            </a:r>
            <a:r>
              <a:rPr lang="pt-BR" sz="3600" i="0" dirty="0"/>
              <a:t>será avaliado em etapas diferentes.</a:t>
            </a:r>
          </a:p>
          <a:p>
            <a:pPr>
              <a:defRPr/>
            </a:pPr>
            <a:r>
              <a:rPr lang="pt-BR" sz="3600" i="0" dirty="0"/>
              <a:t>5 equipes serão formadas </a:t>
            </a:r>
            <a:r>
              <a:rPr lang="pt-BR" sz="3600" b="1" i="0" dirty="0">
                <a:solidFill>
                  <a:srgbClr val="C00000"/>
                </a:solidFill>
              </a:rPr>
              <a:t>hoje</a:t>
            </a:r>
            <a:r>
              <a:rPr lang="pt-BR" sz="3600" i="0" dirty="0"/>
              <a:t>.</a:t>
            </a:r>
          </a:p>
          <a:p>
            <a:pPr>
              <a:defRPr/>
            </a:pPr>
            <a:r>
              <a:rPr lang="pt-BR" sz="3600" i="0" dirty="0"/>
              <a:t>Todas as equipes desenvolverão sua versão própria do </a:t>
            </a:r>
            <a:r>
              <a:rPr lang="pt-BR" sz="3600" dirty="0"/>
              <a:t>sistema</a:t>
            </a:r>
            <a:r>
              <a:rPr lang="pt-BR" sz="3600" i="0" dirty="0"/>
              <a:t>, de acordo com os requisitos levantados.</a:t>
            </a:r>
          </a:p>
          <a:p>
            <a:pPr>
              <a:defRPr/>
            </a:pPr>
            <a:r>
              <a:rPr lang="pt-BR" sz="3600" i="0" dirty="0"/>
              <a:t>Não haverá troca de equipes.</a:t>
            </a:r>
            <a:endParaRPr sz="3600" i="0" dirty="0"/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800"/>
              <a:t>Avaliação</a:t>
            </a:r>
            <a:endParaRPr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261870" y="1828800"/>
            <a:ext cx="8931994" cy="4757388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lang="pt-BR" sz="3600" dirty="0"/>
              <a:t>Serão desenvolvidas 5 atividades avaliativas, cada uma avaliada separadamente das demais:</a:t>
            </a: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200" dirty="0">
                <a:solidFill>
                  <a:schemeClr val="tx1"/>
                </a:solidFill>
              </a:rPr>
              <a:t>AP: Análise de mercado e Proposta inicial</a:t>
            </a:r>
            <a:endParaRPr sz="3200" dirty="0">
              <a:solidFill>
                <a:schemeClr val="tx1"/>
              </a:solidFill>
            </a:endParaRP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200" dirty="0">
                <a:solidFill>
                  <a:schemeClr val="tx1"/>
                </a:solidFill>
              </a:rPr>
              <a:t>Di1: Desenvolvimento do incremento 1</a:t>
            </a:r>
            <a:endParaRPr sz="3200" dirty="0">
              <a:solidFill>
                <a:schemeClr val="tx1"/>
              </a:solidFill>
            </a:endParaRP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200" dirty="0">
                <a:solidFill>
                  <a:schemeClr val="tx1"/>
                </a:solidFill>
              </a:rPr>
              <a:t>Di2: </a:t>
            </a:r>
            <a:r>
              <a:rPr lang="pt-BR" sz="32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Desenvolvimento do </a:t>
            </a:r>
            <a:r>
              <a:rPr lang="pt-BR" sz="3200" dirty="0">
                <a:solidFill>
                  <a:schemeClr val="tx1"/>
                </a:solidFill>
              </a:rPr>
              <a:t>incremento 2</a:t>
            </a:r>
            <a:endParaRPr sz="3200" dirty="0">
              <a:solidFill>
                <a:schemeClr val="tx1"/>
              </a:solidFill>
            </a:endParaRP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200" dirty="0">
                <a:solidFill>
                  <a:schemeClr val="tx1"/>
                </a:solidFill>
              </a:rPr>
              <a:t>Di3: </a:t>
            </a:r>
            <a:r>
              <a:rPr lang="pt-BR" sz="32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Desenvolvimento do </a:t>
            </a:r>
            <a:r>
              <a:rPr lang="pt-BR" sz="3200" dirty="0">
                <a:solidFill>
                  <a:schemeClr val="tx1"/>
                </a:solidFill>
              </a:rPr>
              <a:t>incremento 3</a:t>
            </a: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200" dirty="0">
                <a:solidFill>
                  <a:schemeClr val="tx1"/>
                </a:solidFill>
              </a:rPr>
              <a:t>AF: Apresentação final</a:t>
            </a:r>
            <a:endParaRPr sz="3200" dirty="0">
              <a:solidFill>
                <a:schemeClr val="tx1"/>
              </a:solidFill>
            </a:endParaRP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800"/>
              <a:t>Análise de mercado e Proposta inicial</a:t>
            </a:r>
            <a:endParaRPr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744603" y="1828800"/>
            <a:ext cx="10338109" cy="5024553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 fontScale="95000" lnSpcReduction="1000"/>
          </a:bodyPr>
          <a:lstStyle/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200" dirty="0">
                <a:solidFill>
                  <a:schemeClr val="tx1"/>
                </a:solidFill>
              </a:rPr>
              <a:t>Valor: </a:t>
            </a:r>
            <a:r>
              <a:rPr lang="pt-BR" sz="3000" dirty="0">
                <a:solidFill>
                  <a:schemeClr val="tx1"/>
                </a:solidFill>
              </a:rPr>
              <a:t>1,5</a:t>
            </a:r>
            <a:r>
              <a:rPr sz="3000" dirty="0">
                <a:solidFill>
                  <a:schemeClr val="tx1"/>
                </a:solidFill>
              </a:rPr>
              <a:t> </a:t>
            </a:r>
            <a:r>
              <a:rPr sz="3000" dirty="0" err="1">
                <a:solidFill>
                  <a:schemeClr val="tx1"/>
                </a:solidFill>
              </a:rPr>
              <a:t>pontos</a:t>
            </a:r>
            <a:r>
              <a:rPr sz="3000" dirty="0">
                <a:solidFill>
                  <a:schemeClr val="tx1"/>
                </a:solidFill>
              </a:rPr>
              <a:t> de 10 (</a:t>
            </a:r>
            <a:r>
              <a:rPr lang="pt-BR" sz="3000" dirty="0">
                <a:solidFill>
                  <a:schemeClr val="tx1"/>
                </a:solidFill>
              </a:rPr>
              <a:t>15</a:t>
            </a:r>
            <a:r>
              <a:rPr sz="3000" dirty="0">
                <a:solidFill>
                  <a:schemeClr val="tx1"/>
                </a:solidFill>
              </a:rPr>
              <a:t>% da </a:t>
            </a:r>
            <a:r>
              <a:rPr sz="3000" dirty="0" err="1">
                <a:solidFill>
                  <a:schemeClr val="tx1"/>
                </a:solidFill>
              </a:rPr>
              <a:t>média</a:t>
            </a:r>
            <a:r>
              <a:rPr sz="3000" dirty="0">
                <a:solidFill>
                  <a:schemeClr val="tx1"/>
                </a:solidFill>
              </a:rPr>
              <a:t> final);</a:t>
            </a:r>
            <a:endParaRPr sz="3200" dirty="0">
              <a:solidFill>
                <a:schemeClr val="tx1"/>
              </a:solidFill>
            </a:endParaRP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200" dirty="0" err="1">
                <a:solidFill>
                  <a:schemeClr val="tx1"/>
                </a:solidFill>
              </a:rPr>
              <a:t>Objetivos</a:t>
            </a:r>
            <a:endParaRPr sz="3200" dirty="0">
              <a:solidFill>
                <a:schemeClr val="tx1"/>
              </a:solidFill>
            </a:endParaRPr>
          </a:p>
          <a:p>
            <a:pPr marL="964691" lvl="2" indent="-416051">
              <a:buClr>
                <a:schemeClr val="accent1"/>
              </a:buClr>
              <a:buFont typeface="Arial"/>
              <a:buAutoNum type="arabicPeriod"/>
              <a:defRPr/>
            </a:pPr>
            <a:r>
              <a:rPr sz="3000" dirty="0" err="1">
                <a:solidFill>
                  <a:schemeClr val="tx1"/>
                </a:solidFill>
              </a:rPr>
              <a:t>Avaliar</a:t>
            </a:r>
            <a:r>
              <a:rPr lang="pt-BR" sz="3000" dirty="0">
                <a:solidFill>
                  <a:schemeClr val="tx1"/>
                </a:solidFill>
              </a:rPr>
              <a:t> utilização atual e</a:t>
            </a:r>
            <a:r>
              <a:rPr sz="3000" dirty="0">
                <a:solidFill>
                  <a:schemeClr val="tx1"/>
                </a:solidFill>
              </a:rPr>
              <a:t> </a:t>
            </a:r>
            <a:r>
              <a:rPr sz="3000" i="1" dirty="0" err="1">
                <a:solidFill>
                  <a:schemeClr val="tx1"/>
                </a:solidFill>
              </a:rPr>
              <a:t>softwares</a:t>
            </a:r>
            <a:r>
              <a:rPr sz="3000" i="1" dirty="0">
                <a:solidFill>
                  <a:schemeClr val="tx1"/>
                </a:solidFill>
              </a:rPr>
              <a:t> </a:t>
            </a:r>
            <a:r>
              <a:rPr sz="3000" i="0" dirty="0" err="1">
                <a:solidFill>
                  <a:schemeClr val="tx1"/>
                </a:solidFill>
              </a:rPr>
              <a:t>equivalentes</a:t>
            </a:r>
            <a:r>
              <a:rPr sz="3000" i="0" dirty="0">
                <a:solidFill>
                  <a:schemeClr val="tx1"/>
                </a:solidFill>
              </a:rPr>
              <a:t> no mercado</a:t>
            </a:r>
            <a:r>
              <a:rPr lang="pt-BR" sz="3000" i="0" dirty="0">
                <a:solidFill>
                  <a:schemeClr val="tx1"/>
                </a:solidFill>
              </a:rPr>
              <a:t>, </a:t>
            </a:r>
            <a:r>
              <a:rPr sz="3000" i="0" dirty="0" err="1">
                <a:solidFill>
                  <a:schemeClr val="tx1"/>
                </a:solidFill>
              </a:rPr>
              <a:t>levanta</a:t>
            </a:r>
            <a:r>
              <a:rPr lang="pt-BR" sz="3000" i="0" dirty="0" err="1">
                <a:solidFill>
                  <a:schemeClr val="tx1"/>
                </a:solidFill>
              </a:rPr>
              <a:t>ndo</a:t>
            </a:r>
            <a:r>
              <a:rPr sz="3000" i="0" dirty="0">
                <a:solidFill>
                  <a:schemeClr val="tx1"/>
                </a:solidFill>
              </a:rPr>
              <a:t> </a:t>
            </a:r>
            <a:r>
              <a:rPr sz="3000" i="0" dirty="0" err="1">
                <a:solidFill>
                  <a:schemeClr val="tx1"/>
                </a:solidFill>
              </a:rPr>
              <a:t>pontos</a:t>
            </a:r>
            <a:r>
              <a:rPr sz="3000" i="0" dirty="0">
                <a:solidFill>
                  <a:schemeClr val="tx1"/>
                </a:solidFill>
              </a:rPr>
              <a:t> fortes e </a:t>
            </a:r>
            <a:r>
              <a:rPr sz="3000" i="0" dirty="0" err="1">
                <a:solidFill>
                  <a:schemeClr val="tx1"/>
                </a:solidFill>
              </a:rPr>
              <a:t>pontos</a:t>
            </a:r>
            <a:r>
              <a:rPr sz="3000" i="0" dirty="0">
                <a:solidFill>
                  <a:schemeClr val="tx1"/>
                </a:solidFill>
              </a:rPr>
              <a:t> </a:t>
            </a:r>
            <a:r>
              <a:rPr sz="3000" i="0" dirty="0" err="1">
                <a:solidFill>
                  <a:schemeClr val="tx1"/>
                </a:solidFill>
              </a:rPr>
              <a:t>fracos</a:t>
            </a:r>
            <a:r>
              <a:rPr sz="3000" i="0" dirty="0">
                <a:solidFill>
                  <a:schemeClr val="tx1"/>
                </a:solidFill>
              </a:rPr>
              <a:t>;</a:t>
            </a:r>
          </a:p>
          <a:p>
            <a:pPr marL="964691" lvl="2" indent="-416051">
              <a:buClr>
                <a:schemeClr val="accent1"/>
              </a:buClr>
              <a:buFont typeface="Arial"/>
              <a:buAutoNum type="arabicPeriod"/>
              <a:defRPr/>
            </a:pPr>
            <a:r>
              <a:rPr sz="3000" i="0" dirty="0" err="1">
                <a:solidFill>
                  <a:schemeClr val="tx1"/>
                </a:solidFill>
              </a:rPr>
              <a:t>Propor</a:t>
            </a:r>
            <a:r>
              <a:rPr sz="3000" i="0" dirty="0">
                <a:solidFill>
                  <a:schemeClr val="tx1"/>
                </a:solidFill>
              </a:rPr>
              <a:t> </a:t>
            </a:r>
            <a:r>
              <a:rPr sz="3000" i="0" dirty="0" err="1">
                <a:solidFill>
                  <a:schemeClr val="tx1"/>
                </a:solidFill>
              </a:rPr>
              <a:t>uma</a:t>
            </a:r>
            <a:r>
              <a:rPr sz="3000" i="0" dirty="0">
                <a:solidFill>
                  <a:schemeClr val="tx1"/>
                </a:solidFill>
              </a:rPr>
              <a:t> </a:t>
            </a:r>
            <a:r>
              <a:rPr sz="3000" i="0" dirty="0" err="1">
                <a:solidFill>
                  <a:schemeClr val="tx1"/>
                </a:solidFill>
              </a:rPr>
              <a:t>arquitetura</a:t>
            </a:r>
            <a:r>
              <a:rPr sz="3000" i="0" dirty="0">
                <a:solidFill>
                  <a:schemeClr val="tx1"/>
                </a:solidFill>
              </a:rPr>
              <a:t> para o </a:t>
            </a:r>
            <a:r>
              <a:rPr lang="pt-BR" sz="3000" dirty="0">
                <a:solidFill>
                  <a:schemeClr val="tx1"/>
                </a:solidFill>
              </a:rPr>
              <a:t>sistema</a:t>
            </a:r>
            <a:r>
              <a:rPr sz="3000" i="1" dirty="0">
                <a:solidFill>
                  <a:schemeClr val="tx1"/>
                </a:solidFill>
              </a:rPr>
              <a:t> </a:t>
            </a:r>
            <a:r>
              <a:rPr sz="3000" i="0" dirty="0">
                <a:solidFill>
                  <a:schemeClr val="tx1"/>
                </a:solidFill>
              </a:rPr>
              <a:t>a ser </a:t>
            </a:r>
            <a:r>
              <a:rPr sz="3000" i="0" dirty="0" err="1">
                <a:solidFill>
                  <a:schemeClr val="tx1"/>
                </a:solidFill>
              </a:rPr>
              <a:t>criado</a:t>
            </a:r>
            <a:r>
              <a:rPr sz="3000" i="0" dirty="0">
                <a:solidFill>
                  <a:schemeClr val="tx1"/>
                </a:solidFill>
              </a:rPr>
              <a:t> de </a:t>
            </a:r>
            <a:r>
              <a:rPr sz="3000" i="0" dirty="0" err="1">
                <a:solidFill>
                  <a:schemeClr val="tx1"/>
                </a:solidFill>
              </a:rPr>
              <a:t>acordo</a:t>
            </a:r>
            <a:r>
              <a:rPr sz="3000" i="0" dirty="0">
                <a:solidFill>
                  <a:schemeClr val="tx1"/>
                </a:solidFill>
              </a:rPr>
              <a:t> com as </a:t>
            </a:r>
            <a:r>
              <a:rPr sz="3000" i="0" dirty="0" err="1">
                <a:solidFill>
                  <a:schemeClr val="tx1"/>
                </a:solidFill>
              </a:rPr>
              <a:t>necessidades</a:t>
            </a:r>
            <a:r>
              <a:rPr sz="3000" i="0" dirty="0">
                <a:solidFill>
                  <a:schemeClr val="tx1"/>
                </a:solidFill>
              </a:rPr>
              <a:t> </a:t>
            </a:r>
            <a:r>
              <a:rPr sz="3000" i="0" dirty="0" err="1">
                <a:solidFill>
                  <a:schemeClr val="tx1"/>
                </a:solidFill>
              </a:rPr>
              <a:t>levantadas</a:t>
            </a:r>
            <a:r>
              <a:rPr sz="3000" i="0" dirty="0">
                <a:solidFill>
                  <a:schemeClr val="tx1"/>
                </a:solidFill>
              </a:rPr>
              <a:t>, </a:t>
            </a:r>
            <a:r>
              <a:rPr sz="3000" i="0" dirty="0" err="1">
                <a:solidFill>
                  <a:schemeClr val="tx1"/>
                </a:solidFill>
              </a:rPr>
              <a:t>bem</a:t>
            </a:r>
            <a:r>
              <a:rPr sz="3000" i="0" dirty="0">
                <a:solidFill>
                  <a:schemeClr val="tx1"/>
                </a:solidFill>
              </a:rPr>
              <a:t> </a:t>
            </a:r>
            <a:r>
              <a:rPr sz="3000" i="0" dirty="0" err="1">
                <a:solidFill>
                  <a:schemeClr val="tx1"/>
                </a:solidFill>
              </a:rPr>
              <a:t>como</a:t>
            </a:r>
            <a:r>
              <a:rPr sz="3000" i="0" dirty="0">
                <a:solidFill>
                  <a:schemeClr val="tx1"/>
                </a:solidFill>
              </a:rPr>
              <a:t> </a:t>
            </a:r>
            <a:r>
              <a:rPr sz="3000" i="0" dirty="0" err="1">
                <a:solidFill>
                  <a:schemeClr val="tx1"/>
                </a:solidFill>
              </a:rPr>
              <a:t>definir</a:t>
            </a:r>
            <a:r>
              <a:rPr sz="3000" i="0" dirty="0">
                <a:solidFill>
                  <a:schemeClr val="tx1"/>
                </a:solidFill>
              </a:rPr>
              <a:t> as </a:t>
            </a:r>
            <a:r>
              <a:rPr sz="3000" i="0" dirty="0" err="1">
                <a:solidFill>
                  <a:schemeClr val="tx1"/>
                </a:solidFill>
              </a:rPr>
              <a:t>tecnologias</a:t>
            </a:r>
            <a:r>
              <a:rPr sz="3000" i="0" dirty="0">
                <a:solidFill>
                  <a:schemeClr val="tx1"/>
                </a:solidFill>
              </a:rPr>
              <a:t> </a:t>
            </a:r>
            <a:r>
              <a:rPr sz="3000" i="0" dirty="0" err="1">
                <a:solidFill>
                  <a:schemeClr val="tx1"/>
                </a:solidFill>
              </a:rPr>
              <a:t>utilizadas</a:t>
            </a:r>
            <a:r>
              <a:rPr sz="3000" i="0" dirty="0">
                <a:solidFill>
                  <a:schemeClr val="tx1"/>
                </a:solidFill>
              </a:rPr>
              <a:t>;</a:t>
            </a:r>
          </a:p>
          <a:p>
            <a:pPr marL="964691" lvl="2" indent="-416051">
              <a:buClr>
                <a:schemeClr val="accent1"/>
              </a:buClr>
              <a:buFont typeface="Arial"/>
              <a:buAutoNum type="arabicPeriod"/>
              <a:defRPr/>
            </a:pPr>
            <a:r>
              <a:rPr sz="3000" i="0" dirty="0" err="1">
                <a:solidFill>
                  <a:schemeClr val="tx1"/>
                </a:solidFill>
              </a:rPr>
              <a:t>Propor</a:t>
            </a:r>
            <a:r>
              <a:rPr sz="3000" i="0" dirty="0">
                <a:solidFill>
                  <a:schemeClr val="tx1"/>
                </a:solidFill>
              </a:rPr>
              <a:t> </a:t>
            </a:r>
            <a:r>
              <a:rPr sz="3000" i="0" dirty="0" err="1">
                <a:solidFill>
                  <a:schemeClr val="tx1"/>
                </a:solidFill>
              </a:rPr>
              <a:t>nome</a:t>
            </a:r>
            <a:r>
              <a:rPr sz="3000" i="0" dirty="0">
                <a:solidFill>
                  <a:schemeClr val="tx1"/>
                </a:solidFill>
              </a:rPr>
              <a:t>/</a:t>
            </a:r>
            <a:r>
              <a:rPr sz="3000" i="0" dirty="0" err="1">
                <a:solidFill>
                  <a:schemeClr val="tx1"/>
                </a:solidFill>
              </a:rPr>
              <a:t>ícone</a:t>
            </a:r>
            <a:r>
              <a:rPr sz="3000" i="0" dirty="0">
                <a:solidFill>
                  <a:schemeClr val="tx1"/>
                </a:solidFill>
              </a:rPr>
              <a:t>/</a:t>
            </a:r>
            <a:r>
              <a:rPr sz="3000" i="0" dirty="0" err="1">
                <a:solidFill>
                  <a:schemeClr val="tx1"/>
                </a:solidFill>
              </a:rPr>
              <a:t>logotipo</a:t>
            </a:r>
            <a:r>
              <a:rPr sz="3000" i="0" dirty="0">
                <a:solidFill>
                  <a:schemeClr val="tx1"/>
                </a:solidFill>
              </a:rPr>
              <a:t> </a:t>
            </a:r>
            <a:r>
              <a:rPr sz="3000" i="0" dirty="0" err="1">
                <a:solidFill>
                  <a:schemeClr val="tx1"/>
                </a:solidFill>
              </a:rPr>
              <a:t>originais</a:t>
            </a:r>
            <a:r>
              <a:rPr sz="3000" i="0" dirty="0">
                <a:solidFill>
                  <a:schemeClr val="tx1"/>
                </a:solidFill>
              </a:rPr>
              <a:t>, que </a:t>
            </a:r>
            <a:r>
              <a:rPr sz="3000" i="0" dirty="0" err="1">
                <a:solidFill>
                  <a:schemeClr val="tx1"/>
                </a:solidFill>
              </a:rPr>
              <a:t>tenham</a:t>
            </a:r>
            <a:r>
              <a:rPr sz="3000" i="0" dirty="0">
                <a:solidFill>
                  <a:schemeClr val="tx1"/>
                </a:solidFill>
              </a:rPr>
              <a:t> </a:t>
            </a:r>
            <a:r>
              <a:rPr sz="3000" i="0" dirty="0" err="1">
                <a:solidFill>
                  <a:schemeClr val="tx1"/>
                </a:solidFill>
              </a:rPr>
              <a:t>significado</a:t>
            </a:r>
            <a:r>
              <a:rPr sz="3000" i="0" dirty="0">
                <a:solidFill>
                  <a:schemeClr val="tx1"/>
                </a:solidFill>
              </a:rPr>
              <a:t> para a </a:t>
            </a:r>
            <a:r>
              <a:rPr sz="3000" i="0" dirty="0" err="1">
                <a:solidFill>
                  <a:schemeClr val="tx1"/>
                </a:solidFill>
              </a:rPr>
              <a:t>proposta</a:t>
            </a:r>
            <a:r>
              <a:rPr sz="3000" i="0" dirty="0">
                <a:solidFill>
                  <a:schemeClr val="tx1"/>
                </a:solidFill>
              </a:rPr>
              <a:t> do </a:t>
            </a:r>
            <a:r>
              <a:rPr lang="pt-BR" sz="3000" dirty="0">
                <a:solidFill>
                  <a:schemeClr val="tx1"/>
                </a:solidFill>
              </a:rPr>
              <a:t>sistema</a:t>
            </a:r>
            <a:r>
              <a:rPr sz="3000" i="0" dirty="0">
                <a:solidFill>
                  <a:schemeClr val="tx1"/>
                </a:solidFill>
              </a:rPr>
              <a:t>, </a:t>
            </a:r>
            <a:r>
              <a:rPr sz="3000" i="0" dirty="0" err="1">
                <a:solidFill>
                  <a:schemeClr val="tx1"/>
                </a:solidFill>
              </a:rPr>
              <a:t>bem</a:t>
            </a:r>
            <a:r>
              <a:rPr sz="3000" i="0" dirty="0">
                <a:solidFill>
                  <a:schemeClr val="tx1"/>
                </a:solidFill>
              </a:rPr>
              <a:t> </a:t>
            </a:r>
            <a:r>
              <a:rPr sz="3000" i="0" dirty="0" err="1">
                <a:solidFill>
                  <a:schemeClr val="tx1"/>
                </a:solidFill>
              </a:rPr>
              <a:t>como</a:t>
            </a:r>
            <a:r>
              <a:rPr sz="3000" i="0" dirty="0">
                <a:solidFill>
                  <a:schemeClr val="tx1"/>
                </a:solidFill>
              </a:rPr>
              <a:t> </a:t>
            </a:r>
            <a:r>
              <a:rPr sz="3000" i="0" dirty="0" err="1">
                <a:solidFill>
                  <a:schemeClr val="tx1"/>
                </a:solidFill>
              </a:rPr>
              <a:t>definir</a:t>
            </a:r>
            <a:r>
              <a:rPr sz="3000" i="0" dirty="0">
                <a:solidFill>
                  <a:schemeClr val="tx1"/>
                </a:solidFill>
              </a:rPr>
              <a:t> </a:t>
            </a:r>
            <a:r>
              <a:rPr sz="3000" i="0" dirty="0" err="1">
                <a:solidFill>
                  <a:schemeClr val="tx1"/>
                </a:solidFill>
              </a:rPr>
              <a:t>padrões</a:t>
            </a:r>
            <a:r>
              <a:rPr sz="3000" i="0" dirty="0">
                <a:solidFill>
                  <a:schemeClr val="tx1"/>
                </a:solidFill>
              </a:rPr>
              <a:t> de </a:t>
            </a:r>
            <a:r>
              <a:rPr sz="3000" i="0" dirty="0" err="1">
                <a:solidFill>
                  <a:schemeClr val="tx1"/>
                </a:solidFill>
              </a:rPr>
              <a:t>fontes</a:t>
            </a:r>
            <a:r>
              <a:rPr sz="3000" i="0" dirty="0">
                <a:solidFill>
                  <a:schemeClr val="tx1"/>
                </a:solidFill>
              </a:rPr>
              <a:t> e de cores, </a:t>
            </a:r>
            <a:r>
              <a:rPr sz="3000" i="0" dirty="0" err="1">
                <a:solidFill>
                  <a:schemeClr val="tx1"/>
                </a:solidFill>
              </a:rPr>
              <a:t>coerentes</a:t>
            </a:r>
            <a:r>
              <a:rPr sz="3000" i="0" dirty="0">
                <a:solidFill>
                  <a:schemeClr val="tx1"/>
                </a:solidFill>
              </a:rPr>
              <a:t> com a </a:t>
            </a:r>
            <a:r>
              <a:rPr sz="3000" i="0" dirty="0" err="1">
                <a:solidFill>
                  <a:schemeClr val="tx1"/>
                </a:solidFill>
              </a:rPr>
              <a:t>proposta</a:t>
            </a:r>
            <a:r>
              <a:rPr sz="3000" i="0" dirty="0">
                <a:solidFill>
                  <a:schemeClr val="tx1"/>
                </a:solidFill>
              </a:rPr>
              <a:t>, a </a:t>
            </a:r>
            <a:r>
              <a:rPr sz="3000" i="0" dirty="0" err="1">
                <a:solidFill>
                  <a:schemeClr val="tx1"/>
                </a:solidFill>
              </a:rPr>
              <a:t>serem</a:t>
            </a:r>
            <a:r>
              <a:rPr sz="3000" i="0" dirty="0">
                <a:solidFill>
                  <a:schemeClr val="tx1"/>
                </a:solidFill>
              </a:rPr>
              <a:t> </a:t>
            </a:r>
            <a:r>
              <a:rPr sz="3000" i="0" dirty="0" err="1">
                <a:solidFill>
                  <a:schemeClr val="tx1"/>
                </a:solidFill>
              </a:rPr>
              <a:t>utilizados</a:t>
            </a:r>
            <a:r>
              <a:rPr sz="3000" i="0" dirty="0">
                <a:solidFill>
                  <a:schemeClr val="tx1"/>
                </a:solidFill>
              </a:rPr>
              <a:t> no </a:t>
            </a:r>
            <a:r>
              <a:rPr lang="pt-BR" sz="3000" dirty="0">
                <a:solidFill>
                  <a:schemeClr val="tx1"/>
                </a:solidFill>
              </a:rPr>
              <a:t>sistema</a:t>
            </a:r>
            <a:r>
              <a:rPr sz="3000" i="0" dirty="0">
                <a:solidFill>
                  <a:schemeClr val="tx1"/>
                </a:solidFill>
              </a:rPr>
              <a:t>.</a:t>
            </a:r>
            <a:endParaRPr sz="3000" i="1" dirty="0">
              <a:solidFill>
                <a:schemeClr val="tx1"/>
              </a:solidFill>
            </a:endParaRPr>
          </a:p>
          <a:p>
            <a:pPr marL="964691" lvl="2" indent="-416051">
              <a:buClr>
                <a:schemeClr val="accent1"/>
              </a:buClr>
              <a:buFont typeface="Arial"/>
              <a:buAutoNum type="arabicPeriod"/>
              <a:defRPr/>
            </a:pPr>
            <a:endParaRPr sz="3200" i="0" dirty="0">
              <a:solidFill>
                <a:schemeClr val="tx1"/>
              </a:solidFill>
            </a:endParaRP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800"/>
              <a:t>Análise de mercado e Proposta inicial</a:t>
            </a:r>
            <a:endParaRPr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744603" y="1828800"/>
            <a:ext cx="10338109" cy="5024553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 fontScale="95000" lnSpcReduction="1000"/>
          </a:bodyPr>
          <a:lstStyle/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200" dirty="0">
                <a:solidFill>
                  <a:schemeClr val="tx1"/>
                </a:solidFill>
              </a:rPr>
              <a:t>Valor: </a:t>
            </a:r>
            <a:r>
              <a:rPr lang="pt-BR" sz="3000" dirty="0">
                <a:solidFill>
                  <a:schemeClr val="tx1"/>
                </a:solidFill>
              </a:rPr>
              <a:t>1,5</a:t>
            </a:r>
            <a:r>
              <a:rPr sz="3000" dirty="0">
                <a:solidFill>
                  <a:schemeClr val="tx1"/>
                </a:solidFill>
              </a:rPr>
              <a:t> </a:t>
            </a:r>
            <a:r>
              <a:rPr sz="3000" dirty="0" err="1">
                <a:solidFill>
                  <a:schemeClr val="tx1"/>
                </a:solidFill>
              </a:rPr>
              <a:t>pontos</a:t>
            </a:r>
            <a:r>
              <a:rPr sz="3000" dirty="0">
                <a:solidFill>
                  <a:schemeClr val="tx1"/>
                </a:solidFill>
              </a:rPr>
              <a:t> de 10 (</a:t>
            </a:r>
            <a:r>
              <a:rPr lang="pt-BR" sz="3000" dirty="0">
                <a:solidFill>
                  <a:schemeClr val="tx1"/>
                </a:solidFill>
              </a:rPr>
              <a:t>15</a:t>
            </a:r>
            <a:r>
              <a:rPr sz="3000" dirty="0">
                <a:solidFill>
                  <a:schemeClr val="tx1"/>
                </a:solidFill>
              </a:rPr>
              <a:t>% da </a:t>
            </a:r>
            <a:r>
              <a:rPr sz="3000" dirty="0" err="1">
                <a:solidFill>
                  <a:schemeClr val="tx1"/>
                </a:solidFill>
              </a:rPr>
              <a:t>média</a:t>
            </a:r>
            <a:r>
              <a:rPr sz="3000" dirty="0">
                <a:solidFill>
                  <a:schemeClr val="tx1"/>
                </a:solidFill>
              </a:rPr>
              <a:t> final);</a:t>
            </a:r>
            <a:endParaRPr sz="3200" dirty="0">
              <a:solidFill>
                <a:schemeClr val="tx1"/>
              </a:solidFill>
            </a:endParaRP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200" dirty="0" err="1">
                <a:solidFill>
                  <a:schemeClr val="tx1"/>
                </a:solidFill>
              </a:rPr>
              <a:t>Objetivos</a:t>
            </a:r>
            <a:endParaRPr sz="3200" dirty="0">
              <a:solidFill>
                <a:schemeClr val="tx1"/>
              </a:solidFill>
            </a:endParaRPr>
          </a:p>
          <a:p>
            <a:pPr marL="1062990" lvl="2" indent="-514350">
              <a:buClr>
                <a:schemeClr val="accent1"/>
              </a:buClr>
              <a:buFont typeface="+mj-lt"/>
              <a:buAutoNum type="arabicPeriod" startAt="4"/>
              <a:defRPr/>
            </a:pPr>
            <a:r>
              <a:rPr lang="pt-BR" sz="3000" dirty="0">
                <a:solidFill>
                  <a:schemeClr val="tx1"/>
                </a:solidFill>
              </a:rPr>
              <a:t>Propor padrões de interface a serem utilizados, como por exemplo, menu, tela de cadastro, etc.; utilizando os padrões visuais definidos anteriormente;</a:t>
            </a:r>
          </a:p>
          <a:p>
            <a:pPr marL="1062990" lvl="2" indent="-514350">
              <a:buClr>
                <a:schemeClr val="accent1"/>
              </a:buClr>
              <a:buFont typeface="+mj-lt"/>
              <a:buAutoNum type="arabicPeriod" startAt="4"/>
              <a:defRPr/>
            </a:pPr>
            <a:r>
              <a:rPr lang="pt-BR" sz="3000" i="0" dirty="0">
                <a:solidFill>
                  <a:schemeClr val="tx1"/>
                </a:solidFill>
              </a:rPr>
              <a:t>Propor padrões de nome</a:t>
            </a:r>
            <a:r>
              <a:rPr lang="pt-BR" sz="3000" dirty="0">
                <a:solidFill>
                  <a:schemeClr val="tx1"/>
                </a:solidFill>
              </a:rPr>
              <a:t>nclatura de telas, componentes, variáveis, etc., bem como propor práticas de programação e de documentação que deverão ser seguidas;</a:t>
            </a:r>
          </a:p>
          <a:p>
            <a:pPr marL="1062990" lvl="2" indent="-514350">
              <a:buClr>
                <a:schemeClr val="accent1"/>
              </a:buClr>
              <a:buFont typeface="+mj-lt"/>
              <a:buAutoNum type="arabicPeriod" startAt="4"/>
              <a:defRPr/>
            </a:pPr>
            <a:r>
              <a:rPr lang="pt-BR" sz="3000" i="0" dirty="0">
                <a:solidFill>
                  <a:schemeClr val="tx1"/>
                </a:solidFill>
              </a:rPr>
              <a:t>Propor testes qu</a:t>
            </a:r>
            <a:r>
              <a:rPr lang="pt-BR" sz="3000" dirty="0">
                <a:solidFill>
                  <a:schemeClr val="tx1"/>
                </a:solidFill>
              </a:rPr>
              <a:t>e deverão ser realizados e como seus resultados serão documentados durante o desenvolvimento do projeto.</a:t>
            </a:r>
            <a:endParaRPr sz="3200" i="0" dirty="0">
              <a:solidFill>
                <a:schemeClr val="tx1"/>
              </a:solidFill>
            </a:endParaRP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6657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800"/>
              <a:t>Análise de mercado e Proposta inicial</a:t>
            </a:r>
            <a:endParaRPr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744603" y="1828800"/>
            <a:ext cx="10338109" cy="5024553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 fontScale="95000" lnSpcReduction="1000"/>
          </a:bodyPr>
          <a:lstStyle/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200" dirty="0">
                <a:solidFill>
                  <a:schemeClr val="tx1"/>
                </a:solidFill>
              </a:rPr>
              <a:t>Valor: </a:t>
            </a:r>
            <a:r>
              <a:rPr lang="pt-BR" sz="3000" dirty="0">
                <a:solidFill>
                  <a:schemeClr val="tx1"/>
                </a:solidFill>
              </a:rPr>
              <a:t>1,5</a:t>
            </a:r>
            <a:r>
              <a:rPr sz="3000" dirty="0">
                <a:solidFill>
                  <a:schemeClr val="tx1"/>
                </a:solidFill>
              </a:rPr>
              <a:t> </a:t>
            </a:r>
            <a:r>
              <a:rPr sz="3000" dirty="0" err="1">
                <a:solidFill>
                  <a:schemeClr val="tx1"/>
                </a:solidFill>
              </a:rPr>
              <a:t>pontos</a:t>
            </a:r>
            <a:r>
              <a:rPr sz="3000" dirty="0">
                <a:solidFill>
                  <a:schemeClr val="tx1"/>
                </a:solidFill>
              </a:rPr>
              <a:t> de 10 (</a:t>
            </a:r>
            <a:r>
              <a:rPr lang="pt-BR" sz="3000" dirty="0">
                <a:solidFill>
                  <a:schemeClr val="tx1"/>
                </a:solidFill>
              </a:rPr>
              <a:t>15</a:t>
            </a:r>
            <a:r>
              <a:rPr sz="3000" dirty="0">
                <a:solidFill>
                  <a:schemeClr val="tx1"/>
                </a:solidFill>
              </a:rPr>
              <a:t>% da </a:t>
            </a:r>
            <a:r>
              <a:rPr sz="3000" dirty="0" err="1">
                <a:solidFill>
                  <a:schemeClr val="tx1"/>
                </a:solidFill>
              </a:rPr>
              <a:t>média</a:t>
            </a:r>
            <a:r>
              <a:rPr sz="3000" dirty="0">
                <a:solidFill>
                  <a:schemeClr val="tx1"/>
                </a:solidFill>
              </a:rPr>
              <a:t> final);</a:t>
            </a:r>
            <a:endParaRPr sz="3200" dirty="0">
              <a:solidFill>
                <a:schemeClr val="tx1"/>
              </a:solidFill>
            </a:endParaRP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200" dirty="0" err="1">
                <a:solidFill>
                  <a:schemeClr val="tx1"/>
                </a:solidFill>
              </a:rPr>
              <a:t>Objetivos</a:t>
            </a:r>
            <a:endParaRPr sz="3200" dirty="0">
              <a:solidFill>
                <a:schemeClr val="tx1"/>
              </a:solidFill>
            </a:endParaRPr>
          </a:p>
          <a:p>
            <a:pPr marL="1062990" lvl="2" indent="-514350">
              <a:buClr>
                <a:schemeClr val="accent1"/>
              </a:buClr>
              <a:buFont typeface="+mj-lt"/>
              <a:buAutoNum type="arabicPeriod" startAt="7"/>
              <a:defRPr/>
            </a:pPr>
            <a:r>
              <a:rPr lang="pt-BR" sz="3000" dirty="0">
                <a:solidFill>
                  <a:schemeClr val="tx1"/>
                </a:solidFill>
              </a:rPr>
              <a:t>Propor tecnologias que serão utilizadas no desenvolvimento do sistema;</a:t>
            </a:r>
          </a:p>
          <a:p>
            <a:pPr marL="1062990" lvl="2" indent="-514350">
              <a:buClr>
                <a:schemeClr val="accent1"/>
              </a:buClr>
              <a:buFont typeface="+mj-lt"/>
              <a:buAutoNum type="arabicPeriod" startAt="7"/>
              <a:defRPr/>
            </a:pPr>
            <a:r>
              <a:rPr lang="pt-BR" sz="3000" dirty="0">
                <a:solidFill>
                  <a:schemeClr val="tx1"/>
                </a:solidFill>
              </a:rPr>
              <a:t>Propor outros requisitos não funcionais (usabilidade, segurança, disponibilidade, etc.).</a:t>
            </a: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2364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800"/>
              <a:t>Análise de mercado e Proposta inicial</a:t>
            </a:r>
            <a:endParaRPr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290548" y="1828800"/>
            <a:ext cx="9304298" cy="5024553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200" dirty="0">
                <a:solidFill>
                  <a:schemeClr val="tx1"/>
                </a:solidFill>
              </a:rPr>
              <a:t>Forma</a:t>
            </a:r>
            <a:r>
              <a:rPr sz="3200" dirty="0">
                <a:solidFill>
                  <a:schemeClr val="tx1"/>
                </a:solidFill>
              </a:rPr>
              <a:t> de </a:t>
            </a:r>
            <a:r>
              <a:rPr sz="3200" dirty="0" err="1">
                <a:solidFill>
                  <a:schemeClr val="tx1"/>
                </a:solidFill>
              </a:rPr>
              <a:t>avaliação</a:t>
            </a:r>
            <a:endParaRPr sz="3200" dirty="0">
              <a:solidFill>
                <a:schemeClr val="tx1"/>
              </a:solidFill>
            </a:endParaRPr>
          </a:p>
          <a:p>
            <a:pPr lvl="2">
              <a:buClr>
                <a:schemeClr val="accent1"/>
              </a:buClr>
              <a:buFont typeface="Arial"/>
              <a:buChar char="•"/>
              <a:defRPr/>
            </a:pPr>
            <a:r>
              <a:rPr sz="3000" dirty="0" err="1">
                <a:solidFill>
                  <a:schemeClr val="tx1"/>
                </a:solidFill>
              </a:rPr>
              <a:t>Apresentação</a:t>
            </a:r>
            <a:r>
              <a:rPr sz="3000" dirty="0">
                <a:solidFill>
                  <a:schemeClr val="tx1"/>
                </a:solidFill>
              </a:rPr>
              <a:t> dos </a:t>
            </a:r>
            <a:r>
              <a:rPr sz="3000" dirty="0" err="1">
                <a:solidFill>
                  <a:schemeClr val="tx1"/>
                </a:solidFill>
              </a:rPr>
              <a:t>resultados</a:t>
            </a:r>
            <a:r>
              <a:rPr sz="3000" dirty="0">
                <a:solidFill>
                  <a:schemeClr val="tx1"/>
                </a:solidFill>
              </a:rPr>
              <a:t> </a:t>
            </a:r>
            <a:r>
              <a:rPr sz="3000" dirty="0" err="1">
                <a:solidFill>
                  <a:schemeClr val="tx1"/>
                </a:solidFill>
              </a:rPr>
              <a:t>obtidos</a:t>
            </a:r>
            <a:r>
              <a:rPr sz="3000" dirty="0">
                <a:solidFill>
                  <a:schemeClr val="tx1"/>
                </a:solidFill>
              </a:rPr>
              <a:t>/</a:t>
            </a:r>
            <a:r>
              <a:rPr sz="3000" dirty="0" err="1">
                <a:solidFill>
                  <a:schemeClr val="tx1"/>
                </a:solidFill>
              </a:rPr>
              <a:t>produzidos</a:t>
            </a:r>
            <a:r>
              <a:rPr sz="3000" dirty="0">
                <a:solidFill>
                  <a:schemeClr val="tx1"/>
                </a:solidFill>
              </a:rPr>
              <a:t> </a:t>
            </a:r>
            <a:r>
              <a:rPr sz="3000" dirty="0" err="1">
                <a:solidFill>
                  <a:schemeClr val="tx1"/>
                </a:solidFill>
              </a:rPr>
              <a:t>após</a:t>
            </a:r>
            <a:r>
              <a:rPr sz="3000" dirty="0">
                <a:solidFill>
                  <a:schemeClr val="tx1"/>
                </a:solidFill>
              </a:rPr>
              <a:t> o </a:t>
            </a:r>
            <a:r>
              <a:rPr sz="3000" dirty="0" err="1">
                <a:solidFill>
                  <a:schemeClr val="tx1"/>
                </a:solidFill>
              </a:rPr>
              <a:t>término</a:t>
            </a:r>
            <a:r>
              <a:rPr sz="3000" dirty="0">
                <a:solidFill>
                  <a:schemeClr val="tx1"/>
                </a:solidFill>
              </a:rPr>
              <a:t> da </a:t>
            </a:r>
            <a:r>
              <a:rPr sz="3000" dirty="0" err="1">
                <a:solidFill>
                  <a:schemeClr val="tx1"/>
                </a:solidFill>
              </a:rPr>
              <a:t>etapa</a:t>
            </a:r>
            <a:r>
              <a:rPr sz="3000" dirty="0">
                <a:solidFill>
                  <a:schemeClr val="tx1"/>
                </a:solidFill>
              </a:rPr>
              <a:t>.</a:t>
            </a: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endParaRPr sz="3000" i="0" dirty="0">
              <a:solidFill>
                <a:schemeClr val="tx1"/>
              </a:solidFill>
            </a:endParaRP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200" dirty="0">
                <a:solidFill>
                  <a:schemeClr val="tx1"/>
                </a:solidFill>
              </a:rPr>
              <a:t>Data de </a:t>
            </a:r>
            <a:r>
              <a:rPr sz="3200" dirty="0" err="1">
                <a:solidFill>
                  <a:schemeClr val="tx1"/>
                </a:solidFill>
              </a:rPr>
              <a:t>início</a:t>
            </a:r>
            <a:r>
              <a:rPr sz="3200" dirty="0">
                <a:solidFill>
                  <a:schemeClr val="tx1"/>
                </a:solidFill>
              </a:rPr>
              <a:t>: </a:t>
            </a:r>
            <a:r>
              <a:rPr lang="pt-BR" sz="3200" dirty="0">
                <a:solidFill>
                  <a:schemeClr val="tx1"/>
                </a:solidFill>
              </a:rPr>
              <a:t>24</a:t>
            </a:r>
            <a:r>
              <a:rPr sz="3200" dirty="0">
                <a:solidFill>
                  <a:schemeClr val="tx1"/>
                </a:solidFill>
              </a:rPr>
              <a:t>/</a:t>
            </a:r>
            <a:r>
              <a:rPr lang="pt-BR" sz="3200" dirty="0">
                <a:solidFill>
                  <a:schemeClr val="tx1"/>
                </a:solidFill>
              </a:rPr>
              <a:t>07</a:t>
            </a:r>
            <a:r>
              <a:rPr sz="3200" dirty="0">
                <a:solidFill>
                  <a:schemeClr val="tx1"/>
                </a:solidFill>
              </a:rPr>
              <a:t>/</a:t>
            </a:r>
            <a:r>
              <a:rPr lang="pt-BR" sz="3200" dirty="0">
                <a:solidFill>
                  <a:schemeClr val="tx1"/>
                </a:solidFill>
              </a:rPr>
              <a:t>2026</a:t>
            </a:r>
            <a:endParaRPr sz="3200" dirty="0">
              <a:solidFill>
                <a:schemeClr val="tx1"/>
              </a:solidFill>
            </a:endParaRP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200" dirty="0">
                <a:solidFill>
                  <a:schemeClr val="tx1"/>
                </a:solidFill>
              </a:rPr>
              <a:t>Data da </a:t>
            </a:r>
            <a:r>
              <a:rPr sz="3200" dirty="0" err="1">
                <a:solidFill>
                  <a:schemeClr val="tx1"/>
                </a:solidFill>
              </a:rPr>
              <a:t>entrega</a:t>
            </a:r>
            <a:r>
              <a:rPr sz="3200" dirty="0">
                <a:solidFill>
                  <a:schemeClr val="tx1"/>
                </a:solidFill>
              </a:rPr>
              <a:t>: </a:t>
            </a:r>
            <a:r>
              <a:rPr lang="pt-BR" sz="3200" dirty="0">
                <a:solidFill>
                  <a:schemeClr val="tx1"/>
                </a:solidFill>
              </a:rPr>
              <a:t>14</a:t>
            </a:r>
            <a:r>
              <a:rPr sz="3200" dirty="0">
                <a:solidFill>
                  <a:schemeClr val="tx1"/>
                </a:solidFill>
              </a:rPr>
              <a:t>/</a:t>
            </a:r>
            <a:r>
              <a:rPr lang="pt-BR" sz="3200" dirty="0">
                <a:solidFill>
                  <a:schemeClr val="tx1"/>
                </a:solidFill>
              </a:rPr>
              <a:t>08</a:t>
            </a:r>
            <a:r>
              <a:rPr sz="3200" dirty="0">
                <a:solidFill>
                  <a:schemeClr val="tx1"/>
                </a:solidFill>
              </a:rPr>
              <a:t>/202</a:t>
            </a:r>
            <a:r>
              <a:rPr lang="pt-BR" sz="3200" dirty="0">
                <a:solidFill>
                  <a:schemeClr val="tx1"/>
                </a:solidFill>
              </a:rPr>
              <a:t>6 às 18:00</a:t>
            </a:r>
            <a:endParaRPr sz="3200" dirty="0">
              <a:solidFill>
                <a:schemeClr val="tx1"/>
              </a:solidFill>
            </a:endParaRP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200" dirty="0">
                <a:solidFill>
                  <a:schemeClr val="tx1"/>
                </a:solidFill>
              </a:rPr>
              <a:t>Data da </a:t>
            </a:r>
            <a:r>
              <a:rPr sz="3200" dirty="0" err="1">
                <a:solidFill>
                  <a:schemeClr val="tx1"/>
                </a:solidFill>
              </a:rPr>
              <a:t>apresentação</a:t>
            </a:r>
            <a:r>
              <a:rPr sz="3200" dirty="0">
                <a:solidFill>
                  <a:schemeClr val="tx1"/>
                </a:solidFill>
              </a:rPr>
              <a:t>: </a:t>
            </a:r>
            <a:r>
              <a:rPr lang="pt-BR" sz="3200" dirty="0">
                <a:solidFill>
                  <a:schemeClr val="tx1"/>
                </a:solidFill>
              </a:rPr>
              <a:t>14</a:t>
            </a:r>
            <a:r>
              <a:rPr sz="3200" dirty="0">
                <a:solidFill>
                  <a:schemeClr val="tx1"/>
                </a:solidFill>
              </a:rPr>
              <a:t>/</a:t>
            </a:r>
            <a:r>
              <a:rPr lang="pt-BR" sz="3200" dirty="0">
                <a:solidFill>
                  <a:schemeClr val="tx1"/>
                </a:solidFill>
              </a:rPr>
              <a:t>08</a:t>
            </a:r>
            <a:r>
              <a:rPr sz="3200" dirty="0">
                <a:solidFill>
                  <a:schemeClr val="tx1"/>
                </a:solidFill>
              </a:rPr>
              <a:t>/202</a:t>
            </a:r>
            <a:r>
              <a:rPr lang="pt-BR" sz="3200" dirty="0">
                <a:solidFill>
                  <a:schemeClr val="tx1"/>
                </a:solidFill>
              </a:rPr>
              <a:t>6</a:t>
            </a:r>
            <a:endParaRPr sz="3200" dirty="0">
              <a:solidFill>
                <a:schemeClr val="tx1"/>
              </a:solidFill>
            </a:endParaRPr>
          </a:p>
          <a:p>
            <a:pPr marL="964691" lvl="2" indent="-416051">
              <a:buClr>
                <a:schemeClr val="accent1"/>
              </a:buClr>
              <a:buFont typeface="Arial"/>
              <a:buAutoNum type="arabicPeriod"/>
              <a:defRPr/>
            </a:pPr>
            <a:endParaRPr sz="3200" i="0" dirty="0">
              <a:solidFill>
                <a:schemeClr val="tx1"/>
              </a:solidFill>
            </a:endParaRP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800"/>
              <a:t>Análise de mercado e Proposta inicial</a:t>
            </a:r>
            <a:endParaRPr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290548" y="1828800"/>
            <a:ext cx="9304298" cy="5024553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200" dirty="0">
                <a:solidFill>
                  <a:schemeClr val="tx1"/>
                </a:solidFill>
              </a:rPr>
              <a:t>Forma de </a:t>
            </a:r>
            <a:r>
              <a:rPr sz="3200" dirty="0" err="1">
                <a:solidFill>
                  <a:schemeClr val="tx1"/>
                </a:solidFill>
              </a:rPr>
              <a:t>entrega</a:t>
            </a:r>
            <a:r>
              <a:rPr sz="3200" dirty="0">
                <a:solidFill>
                  <a:schemeClr val="tx1"/>
                </a:solidFill>
              </a:rPr>
              <a:t>: </a:t>
            </a:r>
            <a:r>
              <a:rPr lang="pt-BR" sz="3200" dirty="0">
                <a:solidFill>
                  <a:schemeClr val="tx1"/>
                </a:solidFill>
              </a:rPr>
              <a:t>repositório (</a:t>
            </a:r>
            <a:r>
              <a:rPr lang="pt-BR" sz="3200" dirty="0" err="1">
                <a:solidFill>
                  <a:schemeClr val="tx1"/>
                </a:solidFill>
              </a:rPr>
              <a:t>Gitlab</a:t>
            </a:r>
            <a:r>
              <a:rPr lang="pt-BR" sz="3200" dirty="0">
                <a:solidFill>
                  <a:schemeClr val="tx1"/>
                </a:solidFill>
              </a:rPr>
              <a:t>/</a:t>
            </a:r>
            <a:r>
              <a:rPr lang="pt-BR" sz="3200" dirty="0" err="1">
                <a:solidFill>
                  <a:schemeClr val="tx1"/>
                </a:solidFill>
              </a:rPr>
              <a:t>Github</a:t>
            </a:r>
            <a:r>
              <a:rPr lang="pt-BR" sz="3200" dirty="0">
                <a:solidFill>
                  <a:schemeClr val="tx1"/>
                </a:solidFill>
              </a:rPr>
              <a:t>) do projeto como documentação e Moodle;</a:t>
            </a: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200" i="0" dirty="0">
                <a:solidFill>
                  <a:schemeClr val="tx1"/>
                </a:solidFill>
              </a:rPr>
              <a:t>Colocar introduç</a:t>
            </a:r>
            <a:r>
              <a:rPr lang="pt-BR" sz="3200" dirty="0">
                <a:solidFill>
                  <a:schemeClr val="tx1"/>
                </a:solidFill>
              </a:rPr>
              <a:t>ão, motivação, arquitetura, linguagens, bibliotecas, etc. em uma parte da documentação no repositório;</a:t>
            </a: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000" i="0" dirty="0">
                <a:solidFill>
                  <a:schemeClr val="tx1"/>
                </a:solidFill>
              </a:rPr>
              <a:t>Entregar a avaliação dos </a:t>
            </a:r>
            <a:r>
              <a:rPr lang="pt-BR" sz="3000" i="1" dirty="0">
                <a:solidFill>
                  <a:schemeClr val="tx1"/>
                </a:solidFill>
              </a:rPr>
              <a:t>softwares </a:t>
            </a:r>
            <a:r>
              <a:rPr lang="pt-BR" sz="3000" dirty="0">
                <a:solidFill>
                  <a:schemeClr val="tx1"/>
                </a:solidFill>
              </a:rPr>
              <a:t>avaliados em um arquivo separado no Moodle.</a:t>
            </a:r>
            <a:endParaRPr sz="3000" i="0" dirty="0">
              <a:solidFill>
                <a:schemeClr val="tx1"/>
              </a:solidFill>
            </a:endParaRPr>
          </a:p>
          <a:p>
            <a:pPr marL="964691" lvl="2" indent="-416051">
              <a:buClr>
                <a:schemeClr val="accent1"/>
              </a:buClr>
              <a:buFont typeface="Arial"/>
              <a:buAutoNum type="arabicPeriod"/>
              <a:defRPr/>
            </a:pPr>
            <a:endParaRPr sz="3200" i="0" dirty="0">
              <a:solidFill>
                <a:schemeClr val="tx1"/>
              </a:solidFill>
            </a:endParaRP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2052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800"/>
              <a:t>Desenvolvimento de incrementos</a:t>
            </a:r>
            <a:endParaRPr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744602" y="1828800"/>
            <a:ext cx="10338109" cy="5024552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200" dirty="0">
                <a:solidFill>
                  <a:schemeClr val="tx1"/>
                </a:solidFill>
              </a:rPr>
              <a:t>Valor: </a:t>
            </a:r>
            <a:r>
              <a:rPr sz="3000" dirty="0">
                <a:solidFill>
                  <a:schemeClr val="tx1"/>
                </a:solidFill>
              </a:rPr>
              <a:t>1</a:t>
            </a:r>
            <a:r>
              <a:rPr lang="pt-BR" sz="3000" dirty="0">
                <a:solidFill>
                  <a:schemeClr val="tx1"/>
                </a:solidFill>
              </a:rPr>
              <a:t>,5</a:t>
            </a:r>
            <a:r>
              <a:rPr sz="3000" dirty="0">
                <a:solidFill>
                  <a:schemeClr val="tx1"/>
                </a:solidFill>
              </a:rPr>
              <a:t> </a:t>
            </a:r>
            <a:r>
              <a:rPr sz="3000" dirty="0" err="1">
                <a:solidFill>
                  <a:schemeClr val="tx1"/>
                </a:solidFill>
              </a:rPr>
              <a:t>ponto</a:t>
            </a:r>
            <a:r>
              <a:rPr sz="3000" dirty="0">
                <a:solidFill>
                  <a:schemeClr val="tx1"/>
                </a:solidFill>
              </a:rPr>
              <a:t> de 10 </a:t>
            </a:r>
            <a:r>
              <a:rPr sz="3000" dirty="0" err="1">
                <a:solidFill>
                  <a:schemeClr val="tx1"/>
                </a:solidFill>
              </a:rPr>
              <a:t>por</a:t>
            </a:r>
            <a:r>
              <a:rPr sz="3000" dirty="0">
                <a:solidFill>
                  <a:schemeClr val="tx1"/>
                </a:solidFill>
              </a:rPr>
              <a:t> </a:t>
            </a:r>
            <a:r>
              <a:rPr sz="3000" dirty="0" err="1">
                <a:solidFill>
                  <a:schemeClr val="tx1"/>
                </a:solidFill>
              </a:rPr>
              <a:t>incremento</a:t>
            </a:r>
            <a:r>
              <a:rPr sz="3000" dirty="0">
                <a:solidFill>
                  <a:schemeClr val="tx1"/>
                </a:solidFill>
              </a:rPr>
              <a:t> (1</a:t>
            </a:r>
            <a:r>
              <a:rPr lang="pt-BR" sz="3000" dirty="0">
                <a:solidFill>
                  <a:schemeClr val="tx1"/>
                </a:solidFill>
              </a:rPr>
              <a:t>5</a:t>
            </a:r>
            <a:r>
              <a:rPr sz="3000" dirty="0">
                <a:solidFill>
                  <a:schemeClr val="tx1"/>
                </a:solidFill>
              </a:rPr>
              <a:t>% da </a:t>
            </a:r>
            <a:r>
              <a:rPr sz="3000" dirty="0" err="1">
                <a:solidFill>
                  <a:schemeClr val="tx1"/>
                </a:solidFill>
              </a:rPr>
              <a:t>média</a:t>
            </a:r>
            <a:r>
              <a:rPr sz="3000" dirty="0">
                <a:solidFill>
                  <a:schemeClr val="tx1"/>
                </a:solidFill>
              </a:rPr>
              <a:t> final);</a:t>
            </a: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endParaRPr sz="3200" dirty="0">
              <a:solidFill>
                <a:schemeClr val="tx1"/>
              </a:solidFill>
            </a:endParaRP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200" dirty="0" err="1">
                <a:solidFill>
                  <a:schemeClr val="tx1"/>
                </a:solidFill>
              </a:rPr>
              <a:t>Objetivos</a:t>
            </a:r>
            <a:endParaRPr sz="3200" dirty="0">
              <a:solidFill>
                <a:schemeClr val="tx1"/>
              </a:solidFill>
            </a:endParaRPr>
          </a:p>
          <a:p>
            <a:pPr marL="964690" lvl="2" indent="-416050">
              <a:buClr>
                <a:schemeClr val="accent1"/>
              </a:buClr>
              <a:buFont typeface="Arial"/>
              <a:buAutoNum type="arabicPeriod"/>
              <a:defRPr/>
            </a:pPr>
            <a:r>
              <a:rPr sz="3000" dirty="0" err="1">
                <a:solidFill>
                  <a:schemeClr val="tx1"/>
                </a:solidFill>
              </a:rPr>
              <a:t>Levantar</a:t>
            </a:r>
            <a:r>
              <a:rPr sz="3000" dirty="0">
                <a:solidFill>
                  <a:schemeClr val="tx1"/>
                </a:solidFill>
              </a:rPr>
              <a:t> </a:t>
            </a:r>
            <a:r>
              <a:rPr sz="3000" dirty="0" err="1">
                <a:solidFill>
                  <a:schemeClr val="tx1"/>
                </a:solidFill>
              </a:rPr>
              <a:t>requisitos</a:t>
            </a:r>
            <a:r>
              <a:rPr sz="3000" dirty="0">
                <a:solidFill>
                  <a:schemeClr val="tx1"/>
                </a:solidFill>
              </a:rPr>
              <a:t> de </a:t>
            </a:r>
            <a:r>
              <a:rPr sz="3000" dirty="0" err="1">
                <a:solidFill>
                  <a:schemeClr val="tx1"/>
                </a:solidFill>
              </a:rPr>
              <a:t>acordo</a:t>
            </a:r>
            <a:r>
              <a:rPr sz="3000" dirty="0">
                <a:solidFill>
                  <a:schemeClr val="tx1"/>
                </a:solidFill>
              </a:rPr>
              <a:t> com o </a:t>
            </a:r>
            <a:r>
              <a:rPr sz="3000" dirty="0" err="1">
                <a:solidFill>
                  <a:schemeClr val="tx1"/>
                </a:solidFill>
              </a:rPr>
              <a:t>requisitado</a:t>
            </a:r>
            <a:r>
              <a:rPr sz="3000" dirty="0">
                <a:solidFill>
                  <a:schemeClr val="tx1"/>
                </a:solidFill>
              </a:rPr>
              <a:t>;</a:t>
            </a:r>
          </a:p>
          <a:p>
            <a:pPr marL="964690" lvl="2" indent="-416050">
              <a:buClr>
                <a:schemeClr val="accent1"/>
              </a:buClr>
              <a:buFont typeface="Arial"/>
              <a:buAutoNum type="arabicPeriod"/>
              <a:defRPr/>
            </a:pPr>
            <a:r>
              <a:rPr sz="3000" dirty="0" err="1">
                <a:solidFill>
                  <a:schemeClr val="tx1"/>
                </a:solidFill>
              </a:rPr>
              <a:t>Produzir</a:t>
            </a:r>
            <a:r>
              <a:rPr sz="3000" dirty="0">
                <a:solidFill>
                  <a:schemeClr val="tx1"/>
                </a:solidFill>
              </a:rPr>
              <a:t> </a:t>
            </a:r>
            <a:r>
              <a:rPr sz="3000" dirty="0" err="1">
                <a:solidFill>
                  <a:schemeClr val="tx1"/>
                </a:solidFill>
              </a:rPr>
              <a:t>documentação</a:t>
            </a:r>
            <a:r>
              <a:rPr sz="3000" dirty="0">
                <a:solidFill>
                  <a:schemeClr val="tx1"/>
                </a:solidFill>
              </a:rPr>
              <a:t> </a:t>
            </a:r>
            <a:r>
              <a:rPr sz="3000" dirty="0" err="1">
                <a:solidFill>
                  <a:schemeClr val="tx1"/>
                </a:solidFill>
              </a:rPr>
              <a:t>coerente</a:t>
            </a:r>
            <a:r>
              <a:rPr sz="3000" dirty="0">
                <a:solidFill>
                  <a:schemeClr val="tx1"/>
                </a:solidFill>
              </a:rPr>
              <a:t> com </a:t>
            </a:r>
            <a:r>
              <a:rPr sz="3000" dirty="0" err="1">
                <a:solidFill>
                  <a:schemeClr val="tx1"/>
                </a:solidFill>
              </a:rPr>
              <a:t>os</a:t>
            </a:r>
            <a:r>
              <a:rPr sz="3000" dirty="0">
                <a:solidFill>
                  <a:schemeClr val="tx1"/>
                </a:solidFill>
              </a:rPr>
              <a:t> </a:t>
            </a:r>
            <a:r>
              <a:rPr sz="3000" dirty="0" err="1">
                <a:solidFill>
                  <a:schemeClr val="tx1"/>
                </a:solidFill>
              </a:rPr>
              <a:t>requisitos</a:t>
            </a:r>
            <a:r>
              <a:rPr sz="3000" dirty="0">
                <a:solidFill>
                  <a:schemeClr val="tx1"/>
                </a:solidFill>
              </a:rPr>
              <a:t> </a:t>
            </a:r>
            <a:r>
              <a:rPr sz="3000" dirty="0" err="1">
                <a:solidFill>
                  <a:schemeClr val="tx1"/>
                </a:solidFill>
              </a:rPr>
              <a:t>levantados</a:t>
            </a:r>
            <a:r>
              <a:rPr sz="3000" dirty="0">
                <a:solidFill>
                  <a:schemeClr val="tx1"/>
                </a:solidFill>
              </a:rPr>
              <a:t> e o </a:t>
            </a:r>
            <a:r>
              <a:rPr sz="3000" dirty="0" err="1">
                <a:solidFill>
                  <a:schemeClr val="tx1"/>
                </a:solidFill>
              </a:rPr>
              <a:t>código</a:t>
            </a:r>
            <a:r>
              <a:rPr sz="3000" dirty="0">
                <a:solidFill>
                  <a:schemeClr val="tx1"/>
                </a:solidFill>
              </a:rPr>
              <a:t> </a:t>
            </a:r>
            <a:r>
              <a:rPr sz="3000" dirty="0" err="1">
                <a:solidFill>
                  <a:schemeClr val="tx1"/>
                </a:solidFill>
              </a:rPr>
              <a:t>desenvolvido</a:t>
            </a:r>
            <a:r>
              <a:rPr sz="3000" dirty="0">
                <a:solidFill>
                  <a:schemeClr val="tx1"/>
                </a:solidFill>
              </a:rPr>
              <a:t>;</a:t>
            </a:r>
            <a:endParaRPr sz="3000" i="0" dirty="0">
              <a:solidFill>
                <a:schemeClr val="tx1"/>
              </a:solidFill>
            </a:endParaRPr>
          </a:p>
          <a:p>
            <a:pPr marL="964690" lvl="2" indent="-416050">
              <a:buClr>
                <a:schemeClr val="accent1"/>
              </a:buClr>
              <a:buFont typeface="Arial"/>
              <a:buAutoNum type="arabicPeriod"/>
              <a:defRPr/>
            </a:pPr>
            <a:r>
              <a:rPr sz="3000" i="0" dirty="0" err="1">
                <a:solidFill>
                  <a:schemeClr val="tx1"/>
                </a:solidFill>
              </a:rPr>
              <a:t>Produzir</a:t>
            </a:r>
            <a:r>
              <a:rPr sz="3000" i="0" dirty="0">
                <a:solidFill>
                  <a:schemeClr val="tx1"/>
                </a:solidFill>
              </a:rPr>
              <a:t> </a:t>
            </a:r>
            <a:r>
              <a:rPr sz="3000" i="0" dirty="0" err="1">
                <a:solidFill>
                  <a:schemeClr val="tx1"/>
                </a:solidFill>
              </a:rPr>
              <a:t>código</a:t>
            </a:r>
            <a:r>
              <a:rPr sz="3000" i="0" dirty="0">
                <a:solidFill>
                  <a:schemeClr val="tx1"/>
                </a:solidFill>
              </a:rPr>
              <a:t> que </a:t>
            </a:r>
            <a:r>
              <a:rPr sz="3000" i="0" dirty="0" err="1">
                <a:solidFill>
                  <a:schemeClr val="tx1"/>
                </a:solidFill>
              </a:rPr>
              <a:t>cumpra</a:t>
            </a:r>
            <a:r>
              <a:rPr sz="3000" i="0" dirty="0">
                <a:solidFill>
                  <a:schemeClr val="tx1"/>
                </a:solidFill>
              </a:rPr>
              <a:t> </a:t>
            </a:r>
            <a:r>
              <a:rPr sz="3000" i="0" dirty="0" err="1">
                <a:solidFill>
                  <a:schemeClr val="tx1"/>
                </a:solidFill>
              </a:rPr>
              <a:t>os</a:t>
            </a:r>
            <a:r>
              <a:rPr sz="3000" i="0" dirty="0">
                <a:solidFill>
                  <a:schemeClr val="tx1"/>
                </a:solidFill>
              </a:rPr>
              <a:t> </a:t>
            </a:r>
            <a:r>
              <a:rPr sz="3000" i="0" dirty="0" err="1">
                <a:solidFill>
                  <a:schemeClr val="tx1"/>
                </a:solidFill>
              </a:rPr>
              <a:t>requisitos</a:t>
            </a:r>
            <a:r>
              <a:rPr sz="3000" i="0" dirty="0">
                <a:solidFill>
                  <a:schemeClr val="tx1"/>
                </a:solidFill>
              </a:rPr>
              <a:t> </a:t>
            </a:r>
            <a:r>
              <a:rPr sz="3000" i="0" dirty="0" err="1">
                <a:solidFill>
                  <a:schemeClr val="tx1"/>
                </a:solidFill>
              </a:rPr>
              <a:t>levantados</a:t>
            </a:r>
            <a:r>
              <a:rPr sz="3000" i="0" dirty="0">
                <a:solidFill>
                  <a:schemeClr val="tx1"/>
                </a:solidFill>
              </a:rPr>
              <a:t> e </a:t>
            </a:r>
            <a:r>
              <a:rPr sz="3000" i="0" dirty="0" err="1">
                <a:solidFill>
                  <a:schemeClr val="tx1"/>
                </a:solidFill>
              </a:rPr>
              <a:t>esteja</a:t>
            </a:r>
            <a:r>
              <a:rPr sz="3000" i="0" dirty="0">
                <a:solidFill>
                  <a:schemeClr val="tx1"/>
                </a:solidFill>
              </a:rPr>
              <a:t> de </a:t>
            </a:r>
            <a:r>
              <a:rPr sz="3000" i="0" dirty="0" err="1">
                <a:solidFill>
                  <a:schemeClr val="tx1"/>
                </a:solidFill>
              </a:rPr>
              <a:t>acordo</a:t>
            </a:r>
            <a:r>
              <a:rPr sz="3000" i="0" dirty="0">
                <a:solidFill>
                  <a:schemeClr val="tx1"/>
                </a:solidFill>
              </a:rPr>
              <a:t> com a </a:t>
            </a:r>
            <a:r>
              <a:rPr sz="3000" i="0" dirty="0" err="1">
                <a:solidFill>
                  <a:schemeClr val="tx1"/>
                </a:solidFill>
              </a:rPr>
              <a:t>documentação</a:t>
            </a:r>
            <a:r>
              <a:rPr sz="3000" i="0" dirty="0">
                <a:solidFill>
                  <a:schemeClr val="tx1"/>
                </a:solidFill>
              </a:rPr>
              <a:t> </a:t>
            </a:r>
            <a:r>
              <a:rPr sz="3000" i="0" dirty="0" err="1">
                <a:solidFill>
                  <a:schemeClr val="tx1"/>
                </a:solidFill>
              </a:rPr>
              <a:t>produzida</a:t>
            </a:r>
            <a:r>
              <a:rPr lang="pt-BR" sz="3000" dirty="0">
                <a:solidFill>
                  <a:schemeClr val="tx1"/>
                </a:solidFill>
              </a:rPr>
              <a:t>;</a:t>
            </a:r>
          </a:p>
          <a:p>
            <a:pPr marL="964690" lvl="2" indent="-416050">
              <a:buClr>
                <a:schemeClr val="accent1"/>
              </a:buClr>
              <a:buFont typeface="Arial"/>
              <a:buAutoNum type="arabicPeriod"/>
              <a:defRPr/>
            </a:pPr>
            <a:r>
              <a:rPr lang="pt-BR" sz="3000" dirty="0">
                <a:solidFill>
                  <a:schemeClr val="tx1"/>
                </a:solidFill>
              </a:rPr>
              <a:t>Apresentar o código produzido.</a:t>
            </a:r>
            <a:endParaRPr sz="3000" dirty="0">
              <a:solidFill>
                <a:schemeClr val="tx1"/>
              </a:solidFill>
            </a:endParaRPr>
          </a:p>
          <a:p>
            <a:pPr marL="964690" lvl="2" indent="-416050">
              <a:buClr>
                <a:schemeClr val="accent1"/>
              </a:buClr>
              <a:buFont typeface="Arial"/>
              <a:buAutoNum type="arabicPeriod"/>
              <a:defRPr/>
            </a:pPr>
            <a:endParaRPr sz="3200" i="0" dirty="0">
              <a:solidFill>
                <a:schemeClr val="tx1"/>
              </a:solidFill>
            </a:endParaRP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400" b="0" i="0" u="none" strike="noStrike" cap="none" spc="-49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Desenvolvimento de incrementos</a:t>
            </a:r>
            <a:endParaRPr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290547" y="1828800"/>
            <a:ext cx="9304297" cy="5024552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200" dirty="0">
                <a:solidFill>
                  <a:schemeClr val="tx1"/>
                </a:solidFill>
              </a:rPr>
              <a:t>Forma de </a:t>
            </a:r>
            <a:r>
              <a:rPr sz="3200" dirty="0" err="1">
                <a:solidFill>
                  <a:schemeClr val="tx1"/>
                </a:solidFill>
              </a:rPr>
              <a:t>avaliação</a:t>
            </a:r>
            <a:endParaRPr sz="3200" dirty="0">
              <a:solidFill>
                <a:schemeClr val="tx1"/>
              </a:solidFill>
            </a:endParaRPr>
          </a:p>
          <a:p>
            <a:pPr lvl="2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000" dirty="0">
                <a:solidFill>
                  <a:schemeClr val="tx1"/>
                </a:solidFill>
              </a:rPr>
              <a:t>Avaliação do código e documentação entregues. Correta explicação do funcionamento do sistema desenvolvido.</a:t>
            </a:r>
            <a:endParaRPr sz="3000" i="0" dirty="0">
              <a:solidFill>
                <a:schemeClr val="tx1"/>
              </a:solidFill>
            </a:endParaRP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200" dirty="0">
                <a:solidFill>
                  <a:schemeClr val="tx1"/>
                </a:solidFill>
              </a:rPr>
              <a:t>Forma de </a:t>
            </a:r>
            <a:r>
              <a:rPr sz="3200" dirty="0" err="1">
                <a:solidFill>
                  <a:schemeClr val="tx1"/>
                </a:solidFill>
              </a:rPr>
              <a:t>entrega</a:t>
            </a:r>
            <a:r>
              <a:rPr sz="3200" dirty="0">
                <a:solidFill>
                  <a:schemeClr val="tx1"/>
                </a:solidFill>
              </a:rPr>
              <a:t>: GitHub/GitLab</a:t>
            </a:r>
            <a:r>
              <a:rPr lang="pt-BR" sz="3200" dirty="0">
                <a:solidFill>
                  <a:schemeClr val="tx1"/>
                </a:solidFill>
              </a:rPr>
              <a:t> (criar uma Branch para a entrega e não alterar mais ela);</a:t>
            </a:r>
            <a:endParaRPr sz="3200" dirty="0">
              <a:solidFill>
                <a:schemeClr val="tx1"/>
              </a:solidFill>
            </a:endParaRP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200" i="0" dirty="0" err="1">
                <a:solidFill>
                  <a:schemeClr val="tx1"/>
                </a:solidFill>
              </a:rPr>
              <a:t>Os</a:t>
            </a:r>
            <a:r>
              <a:rPr sz="3200" i="0" dirty="0">
                <a:solidFill>
                  <a:schemeClr val="tx1"/>
                </a:solidFill>
              </a:rPr>
              <a:t> </a:t>
            </a:r>
            <a:r>
              <a:rPr sz="3200" i="0" dirty="0" err="1">
                <a:solidFill>
                  <a:schemeClr val="tx1"/>
                </a:solidFill>
              </a:rPr>
              <a:t>requisitos</a:t>
            </a:r>
            <a:r>
              <a:rPr sz="3200" i="0" dirty="0">
                <a:solidFill>
                  <a:schemeClr val="tx1"/>
                </a:solidFill>
              </a:rPr>
              <a:t> </a:t>
            </a:r>
            <a:r>
              <a:rPr sz="3200" i="0" dirty="0" err="1">
                <a:solidFill>
                  <a:schemeClr val="tx1"/>
                </a:solidFill>
              </a:rPr>
              <a:t>serão</a:t>
            </a:r>
            <a:r>
              <a:rPr sz="3200" i="0" dirty="0">
                <a:solidFill>
                  <a:schemeClr val="tx1"/>
                </a:solidFill>
              </a:rPr>
              <a:t> </a:t>
            </a:r>
            <a:r>
              <a:rPr sz="3200" i="0" dirty="0" err="1">
                <a:solidFill>
                  <a:schemeClr val="tx1"/>
                </a:solidFill>
              </a:rPr>
              <a:t>levantados</a:t>
            </a:r>
            <a:r>
              <a:rPr sz="3200" i="0" dirty="0">
                <a:solidFill>
                  <a:schemeClr val="tx1"/>
                </a:solidFill>
              </a:rPr>
              <a:t> </a:t>
            </a:r>
            <a:r>
              <a:rPr sz="3200" i="0" dirty="0" err="1">
                <a:solidFill>
                  <a:schemeClr val="tx1"/>
                </a:solidFill>
              </a:rPr>
              <a:t>ao</a:t>
            </a:r>
            <a:r>
              <a:rPr sz="3200" i="0" dirty="0">
                <a:solidFill>
                  <a:schemeClr val="tx1"/>
                </a:solidFill>
              </a:rPr>
              <a:t> </a:t>
            </a:r>
            <a:r>
              <a:rPr sz="3200" i="0" dirty="0" err="1">
                <a:solidFill>
                  <a:schemeClr val="tx1"/>
                </a:solidFill>
              </a:rPr>
              <a:t>início</a:t>
            </a:r>
            <a:r>
              <a:rPr sz="3200" i="0" dirty="0">
                <a:solidFill>
                  <a:schemeClr val="tx1"/>
                </a:solidFill>
              </a:rPr>
              <a:t> da data do </a:t>
            </a:r>
            <a:r>
              <a:rPr sz="3200" i="0" dirty="0" err="1">
                <a:solidFill>
                  <a:schemeClr val="tx1"/>
                </a:solidFill>
              </a:rPr>
              <a:t>desenvolvimento</a:t>
            </a:r>
            <a:r>
              <a:rPr sz="3200" i="0" dirty="0">
                <a:solidFill>
                  <a:schemeClr val="tx1"/>
                </a:solidFill>
              </a:rPr>
              <a:t> de </a:t>
            </a:r>
            <a:r>
              <a:rPr sz="3200" i="0" dirty="0" err="1">
                <a:solidFill>
                  <a:schemeClr val="tx1"/>
                </a:solidFill>
              </a:rPr>
              <a:t>cada</a:t>
            </a:r>
            <a:r>
              <a:rPr sz="3200" i="0" dirty="0">
                <a:solidFill>
                  <a:schemeClr val="tx1"/>
                </a:solidFill>
              </a:rPr>
              <a:t> </a:t>
            </a:r>
            <a:r>
              <a:rPr sz="3200" i="0" dirty="0" err="1">
                <a:solidFill>
                  <a:schemeClr val="tx1"/>
                </a:solidFill>
              </a:rPr>
              <a:t>incremento</a:t>
            </a:r>
            <a:r>
              <a:rPr lang="pt-BR" sz="3200" dirty="0">
                <a:solidFill>
                  <a:schemeClr val="tx1"/>
                </a:solidFill>
              </a:rPr>
              <a:t>;</a:t>
            </a: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200" i="0" dirty="0">
                <a:solidFill>
                  <a:schemeClr val="tx1"/>
                </a:solidFill>
              </a:rPr>
              <a:t>Ao final do desenvolvimento, será feita uma apresentação ao professor.</a:t>
            </a:r>
            <a:endParaRPr sz="3000" i="0" dirty="0">
              <a:solidFill>
                <a:schemeClr val="tx1"/>
              </a:solidFill>
            </a:endParaRP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400" b="0" i="0" u="none" strike="noStrike" cap="none" spc="-49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Desenvolvimento de incrementos</a:t>
            </a:r>
            <a:endParaRPr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290547" y="1828800"/>
            <a:ext cx="9304297" cy="4336504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200" dirty="0">
                <a:solidFill>
                  <a:schemeClr val="tx1"/>
                </a:solidFill>
              </a:rPr>
              <a:t>Incrementos devem ser </a:t>
            </a:r>
            <a:r>
              <a:rPr lang="pt-BR" sz="3200" b="1" dirty="0">
                <a:solidFill>
                  <a:srgbClr val="FF0000"/>
                </a:solidFill>
              </a:rPr>
              <a:t>incrementais</a:t>
            </a:r>
            <a:r>
              <a:rPr lang="pt-BR" sz="3200" dirty="0">
                <a:solidFill>
                  <a:schemeClr val="tx1"/>
                </a:solidFill>
              </a:rPr>
              <a:t>;</a:t>
            </a: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200" dirty="0">
                <a:solidFill>
                  <a:schemeClr val="tx1"/>
                </a:solidFill>
              </a:rPr>
              <a:t>Atualização do sistema</a:t>
            </a:r>
            <a:r>
              <a:rPr lang="pt-BR" sz="3200" i="1" dirty="0">
                <a:solidFill>
                  <a:schemeClr val="tx1"/>
                </a:solidFill>
              </a:rPr>
              <a:t> </a:t>
            </a:r>
            <a:r>
              <a:rPr lang="pt-BR" sz="3200" dirty="0">
                <a:solidFill>
                  <a:schemeClr val="tx1"/>
                </a:solidFill>
              </a:rPr>
              <a:t>deve considerar os dados anteriores armazenados em um incremento anterior;</a:t>
            </a: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200" i="0" dirty="0">
                <a:solidFill>
                  <a:schemeClr val="tx1"/>
                </a:solidFill>
              </a:rPr>
              <a:t>Necessidade de reini</a:t>
            </a:r>
            <a:r>
              <a:rPr lang="pt-BR" sz="3200" dirty="0">
                <a:solidFill>
                  <a:schemeClr val="tx1"/>
                </a:solidFill>
              </a:rPr>
              <a:t>ciar o processo de configuração/instalação/início do sistema acarretará em perda de pontos na avaliação do incremento.</a:t>
            </a:r>
            <a:endParaRPr sz="3000" i="0" dirty="0">
              <a:solidFill>
                <a:srgbClr val="FF0000"/>
              </a:solidFill>
            </a:endParaRP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1776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400" b="0" i="0" u="none" strike="noStrike" cap="none" spc="-49">
                <a:solidFill>
                  <a:schemeClr val="tx1"/>
                </a:solidFill>
                <a:latin typeface="Corbel"/>
                <a:ea typeface="Arial"/>
                <a:cs typeface="Arial"/>
              </a:rPr>
              <a:t>Desenvolvimento de incrementos</a:t>
            </a:r>
            <a:endParaRPr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551384" y="1828800"/>
            <a:ext cx="10403127" cy="4624536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Autofit/>
          </a:bodyPr>
          <a:lstStyle/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2800" i="0" dirty="0">
                <a:solidFill>
                  <a:schemeClr val="tx1"/>
                </a:solidFill>
              </a:rPr>
              <a:t>Documentação esperada por incremento:</a:t>
            </a:r>
          </a:p>
          <a:p>
            <a:pPr lvl="2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2800" i="0" dirty="0">
                <a:solidFill>
                  <a:schemeClr val="tx1"/>
                </a:solidFill>
              </a:rPr>
              <a:t>Diagrama de casos de uso</a:t>
            </a:r>
            <a:r>
              <a:rPr lang="pt-BR" sz="2800" dirty="0">
                <a:solidFill>
                  <a:schemeClr val="tx1"/>
                </a:solidFill>
              </a:rPr>
              <a:t> (atualizar por incremento);</a:t>
            </a:r>
            <a:endParaRPr lang="pt-BR" sz="2800" i="0" dirty="0">
              <a:solidFill>
                <a:schemeClr val="tx1"/>
              </a:solidFill>
            </a:endParaRPr>
          </a:p>
          <a:p>
            <a:pPr lvl="2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2800" i="0" dirty="0">
                <a:solidFill>
                  <a:schemeClr val="tx1"/>
                </a:solidFill>
              </a:rPr>
              <a:t>Descrição de cada caso de uso como um requisito funcional (utilizando formulário padrão);</a:t>
            </a:r>
          </a:p>
          <a:p>
            <a:pPr lvl="2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2800" i="0" dirty="0">
                <a:solidFill>
                  <a:schemeClr val="tx1"/>
                </a:solidFill>
              </a:rPr>
              <a:t>Diagrama de classes e respectivo dicionário de dados (atualizar por incremento)</a:t>
            </a:r>
            <a:r>
              <a:rPr lang="pt-BR" sz="2800" dirty="0">
                <a:solidFill>
                  <a:schemeClr val="tx1"/>
                </a:solidFill>
              </a:rPr>
              <a:t>;</a:t>
            </a:r>
          </a:p>
          <a:p>
            <a:pPr lvl="2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2800" dirty="0">
                <a:solidFill>
                  <a:schemeClr val="tx1"/>
                </a:solidFill>
              </a:rPr>
              <a:t>Dicionário e modelagem de dados (se utilizado armazenamento);</a:t>
            </a:r>
          </a:p>
          <a:p>
            <a:pPr lvl="2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2800" i="0" dirty="0">
                <a:solidFill>
                  <a:schemeClr val="tx1"/>
                </a:solidFill>
              </a:rPr>
              <a:t>Descrição dos requisitos não funcionais por incremento.</a:t>
            </a:r>
          </a:p>
          <a:p>
            <a:pPr lvl="2">
              <a:buFont typeface="Arial"/>
              <a:buChar char="•"/>
              <a:defRPr/>
            </a:pPr>
            <a:r>
              <a:rPr lang="pt-BR" sz="2800" i="0" dirty="0">
                <a:solidFill>
                  <a:schemeClr val="tx1"/>
                </a:solidFill>
              </a:rPr>
              <a:t>Diagrama de sequência de todos os requisitos.</a:t>
            </a:r>
            <a:endParaRPr sz="3200" i="0" dirty="0">
              <a:solidFill>
                <a:schemeClr val="tx1"/>
              </a:solidFill>
            </a:endParaRP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400" b="0" i="0" u="none" strike="noStrike" cap="none" spc="-49">
                <a:solidFill>
                  <a:schemeClr val="tx1"/>
                </a:solidFill>
                <a:latin typeface="Corbel"/>
                <a:ea typeface="Arial"/>
                <a:cs typeface="Arial"/>
              </a:rPr>
              <a:t>Desenvolvimento de incrementos</a:t>
            </a:r>
            <a:endParaRPr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290547" y="1828800"/>
            <a:ext cx="9304297" cy="4624536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 fontScale="95000" lnSpcReduction="1000"/>
          </a:bodyPr>
          <a:lstStyle/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000" i="0" dirty="0">
                <a:solidFill>
                  <a:schemeClr val="tx1"/>
                </a:solidFill>
              </a:rPr>
              <a:t>Datas dos incrementos</a:t>
            </a:r>
            <a:endParaRPr sz="2800" i="0" dirty="0">
              <a:solidFill>
                <a:schemeClr val="tx1"/>
              </a:solidFill>
            </a:endParaRP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endParaRPr sz="3200" dirty="0">
              <a:solidFill>
                <a:schemeClr val="tx1"/>
              </a:solidFill>
            </a:endParaRPr>
          </a:p>
          <a:p>
            <a:pPr marL="964690" lvl="2" indent="-416050">
              <a:buClr>
                <a:schemeClr val="accent1"/>
              </a:buClr>
              <a:buFont typeface="Arial"/>
              <a:buAutoNum type="arabicPeriod"/>
              <a:defRPr/>
            </a:pPr>
            <a:endParaRPr sz="3200" i="0" dirty="0">
              <a:solidFill>
                <a:schemeClr val="tx1"/>
              </a:solidFill>
            </a:endParaRP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0A88C747-3600-5DCE-7F9B-132D5EEB0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678736"/>
              </p:ext>
            </p:extLst>
          </p:nvPr>
        </p:nvGraphicFramePr>
        <p:xfrm>
          <a:off x="407368" y="2492896"/>
          <a:ext cx="10585886" cy="1828800"/>
        </p:xfrm>
        <a:graphic>
          <a:graphicData uri="http://schemas.openxmlformats.org/drawingml/2006/table">
            <a:tbl>
              <a:tblPr firstRow="1" bandRow="1">
                <a:tableStyleId>{C2BB39FE-9C42-69D8-04EC-AC500937AE76}</a:tableStyleId>
              </a:tblPr>
              <a:tblGrid>
                <a:gridCol w="1767205">
                  <a:extLst>
                    <a:ext uri="{9D8B030D-6E8A-4147-A177-3AD203B41FA5}">
                      <a16:colId xmlns:a16="http://schemas.microsoft.com/office/drawing/2014/main" val="1399538007"/>
                    </a:ext>
                  </a:extLst>
                </a:gridCol>
                <a:gridCol w="2597089">
                  <a:extLst>
                    <a:ext uri="{9D8B030D-6E8A-4147-A177-3AD203B41FA5}">
                      <a16:colId xmlns:a16="http://schemas.microsoft.com/office/drawing/2014/main" val="4215698169"/>
                    </a:ext>
                  </a:extLst>
                </a:gridCol>
                <a:gridCol w="2721292">
                  <a:extLst>
                    <a:ext uri="{9D8B030D-6E8A-4147-A177-3AD203B41FA5}">
                      <a16:colId xmlns:a16="http://schemas.microsoft.com/office/drawing/2014/main" val="459135688"/>
                    </a:ext>
                  </a:extLst>
                </a:gridCol>
                <a:gridCol w="3500300">
                  <a:extLst>
                    <a:ext uri="{9D8B030D-6E8A-4147-A177-3AD203B41FA5}">
                      <a16:colId xmlns:a16="http://schemas.microsoft.com/office/drawing/2014/main" val="1997518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Incremento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Término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Apresentação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343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21/08/2026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18/09/2026 às 18:00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18/09/2026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83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25/09/2026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09/10/2026 às 18:00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09/10/2026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03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16/10/2026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06/11/2026 às 18:00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06/11/2026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462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826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800" b="0" i="0" u="none" strike="noStrike" cap="none" spc="-49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Apresentação final</a:t>
            </a:r>
            <a:endParaRPr dirty="0"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744602" y="1828800"/>
            <a:ext cx="10338109" cy="5024552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200" dirty="0">
                <a:solidFill>
                  <a:schemeClr val="tx1"/>
                </a:solidFill>
              </a:rPr>
              <a:t>Valor: </a:t>
            </a:r>
            <a:r>
              <a:rPr sz="3000" dirty="0">
                <a:solidFill>
                  <a:schemeClr val="tx1"/>
                </a:solidFill>
              </a:rPr>
              <a:t>4 </a:t>
            </a:r>
            <a:r>
              <a:rPr sz="3000" dirty="0" err="1">
                <a:solidFill>
                  <a:schemeClr val="tx1"/>
                </a:solidFill>
              </a:rPr>
              <a:t>pontos</a:t>
            </a:r>
            <a:r>
              <a:rPr sz="3000" dirty="0">
                <a:solidFill>
                  <a:schemeClr val="tx1"/>
                </a:solidFill>
              </a:rPr>
              <a:t> de 10 (40% da </a:t>
            </a:r>
            <a:r>
              <a:rPr sz="3000" dirty="0" err="1">
                <a:solidFill>
                  <a:schemeClr val="tx1"/>
                </a:solidFill>
              </a:rPr>
              <a:t>média</a:t>
            </a:r>
            <a:r>
              <a:rPr sz="3000" dirty="0">
                <a:solidFill>
                  <a:schemeClr val="tx1"/>
                </a:solidFill>
              </a:rPr>
              <a:t> final);</a:t>
            </a:r>
            <a:endParaRPr sz="3200" dirty="0">
              <a:solidFill>
                <a:schemeClr val="tx1"/>
              </a:solidFill>
            </a:endParaRP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200" dirty="0" err="1">
                <a:solidFill>
                  <a:schemeClr val="tx1"/>
                </a:solidFill>
              </a:rPr>
              <a:t>Objetivos</a:t>
            </a:r>
            <a:endParaRPr sz="3200" dirty="0">
              <a:solidFill>
                <a:schemeClr val="tx1"/>
              </a:solidFill>
            </a:endParaRPr>
          </a:p>
          <a:p>
            <a:pPr marL="964690" lvl="2" indent="-416050">
              <a:buClr>
                <a:schemeClr val="accent1"/>
              </a:buClr>
              <a:buFont typeface="Arial"/>
              <a:buAutoNum type="arabicPeriod"/>
              <a:defRPr/>
            </a:pPr>
            <a:r>
              <a:rPr sz="3000" i="0" dirty="0" err="1">
                <a:solidFill>
                  <a:schemeClr val="tx1"/>
                </a:solidFill>
              </a:rPr>
              <a:t>Apresentar</a:t>
            </a:r>
            <a:r>
              <a:rPr sz="3000" i="0" dirty="0">
                <a:solidFill>
                  <a:schemeClr val="tx1"/>
                </a:solidFill>
              </a:rPr>
              <a:t> o </a:t>
            </a:r>
            <a:r>
              <a:rPr lang="pt-BR" sz="3000" dirty="0">
                <a:solidFill>
                  <a:schemeClr val="tx1"/>
                </a:solidFill>
              </a:rPr>
              <a:t>sistema</a:t>
            </a:r>
            <a:r>
              <a:rPr sz="3000" i="1" dirty="0">
                <a:solidFill>
                  <a:schemeClr val="tx1"/>
                </a:solidFill>
              </a:rPr>
              <a:t> </a:t>
            </a:r>
            <a:r>
              <a:rPr lang="pt-BR" sz="3000" dirty="0">
                <a:solidFill>
                  <a:schemeClr val="tx1"/>
                </a:solidFill>
              </a:rPr>
              <a:t>final </a:t>
            </a:r>
            <a:r>
              <a:rPr sz="3000" i="0" dirty="0" err="1">
                <a:solidFill>
                  <a:schemeClr val="tx1"/>
                </a:solidFill>
              </a:rPr>
              <a:t>desenvolvido</a:t>
            </a:r>
            <a:r>
              <a:rPr lang="pt-BR" sz="3000" i="0" dirty="0">
                <a:solidFill>
                  <a:schemeClr val="tx1"/>
                </a:solidFill>
              </a:rPr>
              <a:t>;</a:t>
            </a:r>
          </a:p>
          <a:p>
            <a:pPr marL="964690" lvl="2" indent="-416050">
              <a:buClr>
                <a:schemeClr val="accent1"/>
              </a:buClr>
              <a:buFont typeface="Arial"/>
              <a:buAutoNum type="arabicPeriod"/>
              <a:defRPr/>
            </a:pPr>
            <a:r>
              <a:rPr lang="pt-BR" sz="3000" i="0" dirty="0">
                <a:solidFill>
                  <a:schemeClr val="tx1"/>
                </a:solidFill>
              </a:rPr>
              <a:t>Desenvolver um manual para utilização do sistema;</a:t>
            </a:r>
          </a:p>
          <a:p>
            <a:pPr marL="964690" lvl="2" indent="-416050">
              <a:buClr>
                <a:schemeClr val="accent1"/>
              </a:buClr>
              <a:buFont typeface="Arial"/>
              <a:buAutoNum type="arabicPeriod"/>
              <a:defRPr/>
            </a:pPr>
            <a:r>
              <a:rPr lang="pt-BR" sz="3000" dirty="0">
                <a:solidFill>
                  <a:schemeClr val="tx1"/>
                </a:solidFill>
              </a:rPr>
              <a:t>Catalogar todos os </a:t>
            </a:r>
            <a:r>
              <a:rPr lang="pt-BR" sz="3000" i="1" dirty="0">
                <a:solidFill>
                  <a:schemeClr val="tx1"/>
                </a:solidFill>
              </a:rPr>
              <a:t>softwares </a:t>
            </a:r>
            <a:r>
              <a:rPr lang="pt-BR" sz="3000" dirty="0">
                <a:solidFill>
                  <a:schemeClr val="tx1"/>
                </a:solidFill>
              </a:rPr>
              <a:t>utilizados e suas licenças;</a:t>
            </a:r>
          </a:p>
          <a:p>
            <a:pPr marL="964690" lvl="2" indent="-416050">
              <a:buClr>
                <a:schemeClr val="accent1"/>
              </a:buClr>
              <a:buFont typeface="Arial"/>
              <a:buAutoNum type="arabicPeriod"/>
              <a:defRPr/>
            </a:pPr>
            <a:r>
              <a:rPr lang="pt-BR" sz="3000" dirty="0">
                <a:solidFill>
                  <a:schemeClr val="tx1"/>
                </a:solidFill>
              </a:rPr>
              <a:t>Deixar o repositório pronto para publicação.</a:t>
            </a:r>
          </a:p>
          <a:p>
            <a:pPr marL="548640" lvl="2" indent="0">
              <a:buClr>
                <a:schemeClr val="accent1"/>
              </a:buClr>
              <a:buFont typeface="Arial"/>
              <a:buNone/>
              <a:defRPr/>
            </a:pPr>
            <a:endParaRPr sz="3000" i="0" dirty="0">
              <a:solidFill>
                <a:schemeClr val="tx1"/>
              </a:solidFill>
            </a:endParaRP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200" i="0" dirty="0">
                <a:solidFill>
                  <a:schemeClr val="tx1"/>
                </a:solidFill>
              </a:rPr>
              <a:t>Forma de </a:t>
            </a:r>
            <a:r>
              <a:rPr sz="3200" i="0" dirty="0" err="1">
                <a:solidFill>
                  <a:schemeClr val="tx1"/>
                </a:solidFill>
              </a:rPr>
              <a:t>avaliação</a:t>
            </a:r>
            <a:endParaRPr sz="3200" i="0" dirty="0">
              <a:solidFill>
                <a:schemeClr val="tx1"/>
              </a:solidFill>
            </a:endParaRPr>
          </a:p>
          <a:p>
            <a:pPr lvl="2">
              <a:buClr>
                <a:schemeClr val="accent1"/>
              </a:buClr>
              <a:buFont typeface="Arial"/>
              <a:buChar char="•"/>
              <a:defRPr/>
            </a:pPr>
            <a:r>
              <a:rPr sz="3000" i="0" dirty="0" err="1">
                <a:solidFill>
                  <a:schemeClr val="tx1"/>
                </a:solidFill>
              </a:rPr>
              <a:t>Apresentação</a:t>
            </a:r>
            <a:r>
              <a:rPr sz="3000" i="0" dirty="0">
                <a:solidFill>
                  <a:schemeClr val="tx1"/>
                </a:solidFill>
              </a:rPr>
              <a:t> do </a:t>
            </a:r>
            <a:r>
              <a:rPr sz="3000" i="1" dirty="0">
                <a:solidFill>
                  <a:schemeClr val="tx1"/>
                </a:solidFill>
              </a:rPr>
              <a:t>software</a:t>
            </a:r>
            <a:r>
              <a:rPr lang="pt-BR" sz="3000" i="1" dirty="0">
                <a:solidFill>
                  <a:schemeClr val="tx1"/>
                </a:solidFill>
              </a:rPr>
              <a:t>, </a:t>
            </a:r>
            <a:r>
              <a:rPr lang="pt-BR" sz="3000" dirty="0">
                <a:solidFill>
                  <a:schemeClr val="tx1"/>
                </a:solidFill>
              </a:rPr>
              <a:t>a ser feita</a:t>
            </a:r>
            <a:r>
              <a:rPr sz="3000" i="1" dirty="0">
                <a:solidFill>
                  <a:schemeClr val="tx1"/>
                </a:solidFill>
              </a:rPr>
              <a:t> </a:t>
            </a:r>
            <a:r>
              <a:rPr sz="3000" i="0" dirty="0">
                <a:solidFill>
                  <a:schemeClr val="tx1"/>
                </a:solidFill>
              </a:rPr>
              <a:t>a </a:t>
            </a:r>
            <a:r>
              <a:rPr sz="3000" i="0" dirty="0" err="1">
                <a:solidFill>
                  <a:schemeClr val="tx1"/>
                </a:solidFill>
              </a:rPr>
              <a:t>critério</a:t>
            </a:r>
            <a:r>
              <a:rPr sz="3000" i="0" dirty="0">
                <a:solidFill>
                  <a:schemeClr val="tx1"/>
                </a:solidFill>
              </a:rPr>
              <a:t> da equipe.</a:t>
            </a:r>
          </a:p>
          <a:p>
            <a:pPr marL="964690" lvl="2" indent="-416050">
              <a:buClr>
                <a:schemeClr val="accent1"/>
              </a:buClr>
              <a:buFont typeface="Arial"/>
              <a:buAutoNum type="arabicPeriod"/>
              <a:defRPr/>
            </a:pPr>
            <a:endParaRPr sz="3200" i="0" dirty="0">
              <a:solidFill>
                <a:schemeClr val="tx1"/>
              </a:solidFill>
            </a:endParaRP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800" b="0" i="0" u="none" strike="noStrike" cap="none" spc="-49" dirty="0">
                <a:solidFill>
                  <a:schemeClr val="tx1"/>
                </a:solidFill>
                <a:latin typeface="Corbel"/>
                <a:ea typeface="Arial"/>
                <a:cs typeface="Arial"/>
              </a:rPr>
              <a:t>Apresentação final</a:t>
            </a:r>
            <a:endParaRPr dirty="0"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290547" y="1828800"/>
            <a:ext cx="9304297" cy="5024552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200" dirty="0">
                <a:solidFill>
                  <a:schemeClr val="tx1"/>
                </a:solidFill>
              </a:rPr>
              <a:t>Data de </a:t>
            </a:r>
            <a:r>
              <a:rPr sz="3200" dirty="0" err="1">
                <a:solidFill>
                  <a:schemeClr val="tx1"/>
                </a:solidFill>
              </a:rPr>
              <a:t>início</a:t>
            </a:r>
            <a:r>
              <a:rPr sz="3200" dirty="0">
                <a:solidFill>
                  <a:schemeClr val="tx1"/>
                </a:solidFill>
              </a:rPr>
              <a:t>: </a:t>
            </a:r>
            <a:r>
              <a:rPr lang="pt-BR" sz="3200" dirty="0">
                <a:solidFill>
                  <a:schemeClr val="tx1"/>
                </a:solidFill>
              </a:rPr>
              <a:t>13</a:t>
            </a:r>
            <a:r>
              <a:rPr sz="3200" dirty="0">
                <a:solidFill>
                  <a:schemeClr val="tx1"/>
                </a:solidFill>
              </a:rPr>
              <a:t>/</a:t>
            </a:r>
            <a:r>
              <a:rPr lang="pt-BR" sz="3200" dirty="0">
                <a:solidFill>
                  <a:schemeClr val="tx1"/>
                </a:solidFill>
              </a:rPr>
              <a:t>11</a:t>
            </a:r>
            <a:r>
              <a:rPr sz="3200" dirty="0">
                <a:solidFill>
                  <a:schemeClr val="tx1"/>
                </a:solidFill>
              </a:rPr>
              <a:t>/202</a:t>
            </a:r>
            <a:r>
              <a:rPr lang="pt-BR" sz="3200" dirty="0">
                <a:solidFill>
                  <a:schemeClr val="tx1"/>
                </a:solidFill>
              </a:rPr>
              <a:t>6</a:t>
            </a:r>
            <a:endParaRPr sz="3200" dirty="0">
              <a:solidFill>
                <a:schemeClr val="tx1"/>
              </a:solidFill>
            </a:endParaRP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200" dirty="0">
                <a:solidFill>
                  <a:schemeClr val="tx1"/>
                </a:solidFill>
              </a:rPr>
              <a:t>Data da </a:t>
            </a:r>
            <a:r>
              <a:rPr sz="3200" dirty="0" err="1">
                <a:solidFill>
                  <a:schemeClr val="tx1"/>
                </a:solidFill>
              </a:rPr>
              <a:t>entrega</a:t>
            </a:r>
            <a:r>
              <a:rPr sz="3200" dirty="0">
                <a:solidFill>
                  <a:schemeClr val="tx1"/>
                </a:solidFill>
              </a:rPr>
              <a:t>: </a:t>
            </a:r>
            <a:r>
              <a:rPr lang="pt-BR" sz="3200" dirty="0">
                <a:solidFill>
                  <a:schemeClr val="tx1"/>
                </a:solidFill>
              </a:rPr>
              <a:t>27</a:t>
            </a:r>
            <a:r>
              <a:rPr sz="3200" dirty="0">
                <a:solidFill>
                  <a:schemeClr val="tx1"/>
                </a:solidFill>
              </a:rPr>
              <a:t>/</a:t>
            </a:r>
            <a:r>
              <a:rPr lang="pt-BR" sz="3200" dirty="0">
                <a:solidFill>
                  <a:schemeClr val="tx1"/>
                </a:solidFill>
              </a:rPr>
              <a:t>11</a:t>
            </a:r>
            <a:r>
              <a:rPr sz="3200" dirty="0">
                <a:solidFill>
                  <a:schemeClr val="tx1"/>
                </a:solidFill>
              </a:rPr>
              <a:t>/202</a:t>
            </a:r>
            <a:r>
              <a:rPr lang="pt-BR" sz="3200" dirty="0">
                <a:solidFill>
                  <a:schemeClr val="tx1"/>
                </a:solidFill>
              </a:rPr>
              <a:t>6 às 18:00</a:t>
            </a:r>
            <a:endParaRPr sz="3200" dirty="0">
              <a:solidFill>
                <a:schemeClr val="tx1"/>
              </a:solidFill>
            </a:endParaRP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200" dirty="0">
                <a:solidFill>
                  <a:schemeClr val="tx1"/>
                </a:solidFill>
              </a:rPr>
              <a:t>Data da </a:t>
            </a:r>
            <a:r>
              <a:rPr sz="3200" dirty="0" err="1">
                <a:solidFill>
                  <a:schemeClr val="tx1"/>
                </a:solidFill>
              </a:rPr>
              <a:t>apresentação</a:t>
            </a:r>
            <a:r>
              <a:rPr sz="3200" dirty="0">
                <a:solidFill>
                  <a:schemeClr val="tx1"/>
                </a:solidFill>
              </a:rPr>
              <a:t>: </a:t>
            </a:r>
            <a:r>
              <a:rPr lang="pt-BR" sz="3200" dirty="0">
                <a:solidFill>
                  <a:schemeClr val="tx1"/>
                </a:solidFill>
              </a:rPr>
              <a:t>27</a:t>
            </a:r>
            <a:r>
              <a:rPr sz="3200" dirty="0">
                <a:solidFill>
                  <a:schemeClr val="tx1"/>
                </a:solidFill>
              </a:rPr>
              <a:t>/</a:t>
            </a:r>
            <a:r>
              <a:rPr lang="pt-BR" sz="3200" dirty="0">
                <a:solidFill>
                  <a:schemeClr val="tx1"/>
                </a:solidFill>
              </a:rPr>
              <a:t>11</a:t>
            </a:r>
            <a:r>
              <a:rPr sz="3200" dirty="0">
                <a:solidFill>
                  <a:schemeClr val="tx1"/>
                </a:solidFill>
              </a:rPr>
              <a:t>/202</a:t>
            </a:r>
            <a:r>
              <a:rPr lang="pt-BR" sz="3200" dirty="0">
                <a:solidFill>
                  <a:schemeClr val="tx1"/>
                </a:solidFill>
              </a:rPr>
              <a:t>6</a:t>
            </a:r>
            <a:endParaRPr sz="3200" dirty="0">
              <a:solidFill>
                <a:schemeClr val="tx1"/>
              </a:solidFill>
            </a:endParaRP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endParaRPr sz="3000" i="0" dirty="0">
              <a:solidFill>
                <a:schemeClr val="tx1"/>
              </a:solidFill>
            </a:endParaRP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200" dirty="0">
                <a:solidFill>
                  <a:schemeClr val="tx1"/>
                </a:solidFill>
              </a:rPr>
              <a:t>Forma de </a:t>
            </a:r>
            <a:r>
              <a:rPr sz="3200" dirty="0" err="1">
                <a:solidFill>
                  <a:schemeClr val="tx1"/>
                </a:solidFill>
              </a:rPr>
              <a:t>entrega</a:t>
            </a:r>
            <a:r>
              <a:rPr sz="3200" dirty="0">
                <a:solidFill>
                  <a:schemeClr val="tx1"/>
                </a:solidFill>
              </a:rPr>
              <a:t>: a </a:t>
            </a:r>
            <a:r>
              <a:rPr sz="3200" dirty="0" err="1">
                <a:solidFill>
                  <a:schemeClr val="tx1"/>
                </a:solidFill>
              </a:rPr>
              <a:t>apresentação</a:t>
            </a:r>
            <a:r>
              <a:rPr sz="3200" dirty="0">
                <a:solidFill>
                  <a:schemeClr val="tx1"/>
                </a:solidFill>
              </a:rPr>
              <a:t> e o </a:t>
            </a:r>
            <a:r>
              <a:rPr lang="pt-BR" sz="32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manual deverão constar no repositório do projeto.</a:t>
            </a: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endParaRPr lang="pt-BR" sz="3200" dirty="0">
              <a:solidFill>
                <a:schemeClr val="tx1"/>
              </a:solidFill>
            </a:endParaRPr>
          </a:p>
          <a:p>
            <a:pPr marL="964690" lvl="2" indent="-416050">
              <a:buClr>
                <a:schemeClr val="accent1"/>
              </a:buClr>
              <a:buFont typeface="Arial"/>
              <a:buAutoNum type="arabicPeriod"/>
              <a:defRPr/>
            </a:pPr>
            <a:endParaRPr sz="3200" i="0" dirty="0">
              <a:solidFill>
                <a:schemeClr val="tx1"/>
              </a:solidFill>
            </a:endParaRP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800" b="0" i="0" u="none" strike="noStrike" cap="none" spc="-49" dirty="0">
                <a:solidFill>
                  <a:schemeClr val="tx1"/>
                </a:solidFill>
                <a:latin typeface="Corbel"/>
                <a:ea typeface="Arial"/>
                <a:cs typeface="Arial"/>
              </a:rPr>
              <a:t>Apresentação final</a:t>
            </a:r>
            <a:endParaRPr dirty="0"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290547" y="1828800"/>
            <a:ext cx="9304297" cy="5024552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200" i="0" dirty="0">
                <a:solidFill>
                  <a:schemeClr val="tx1"/>
                </a:solidFill>
              </a:rPr>
              <a:t>Podem ser feitas correções/alterações dos incrementos anteriores, desde que atendam os requisitos levantados;</a:t>
            </a: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200" dirty="0">
                <a:solidFill>
                  <a:schemeClr val="tx1"/>
                </a:solidFill>
              </a:rPr>
              <a:t>Correção não irá alterar a nota do incremento, no entanto;</a:t>
            </a: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000" i="0" dirty="0">
                <a:solidFill>
                  <a:schemeClr val="tx1"/>
                </a:solidFill>
              </a:rPr>
              <a:t>Não correção deve acarretar nova perda de nota na apresentação final.</a:t>
            </a: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endParaRPr lang="pt-BR" sz="3200" dirty="0">
              <a:solidFill>
                <a:schemeClr val="tx1"/>
              </a:solidFill>
            </a:endParaRPr>
          </a:p>
          <a:p>
            <a:pPr marL="964690" lvl="2" indent="-416050">
              <a:buClr>
                <a:schemeClr val="accent1"/>
              </a:buClr>
              <a:buFont typeface="Arial"/>
              <a:buAutoNum type="arabicPeriod"/>
              <a:defRPr/>
            </a:pPr>
            <a:endParaRPr sz="3200" i="0" dirty="0">
              <a:solidFill>
                <a:schemeClr val="tx1"/>
              </a:solidFill>
            </a:endParaRP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605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800"/>
              <a:t>Tecnologias utilizadas</a:t>
            </a:r>
            <a:endParaRPr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261871" y="1828800"/>
            <a:ext cx="8931995" cy="4351337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600">
                <a:solidFill>
                  <a:srgbClr val="003300"/>
                </a:solidFill>
              </a:rPr>
              <a:t>As tecnologias a serem utilizadas serão de livre escolha das equipes;</a:t>
            </a:r>
            <a:endParaRPr sz="3600">
              <a:solidFill>
                <a:srgbClr val="003300"/>
              </a:solidFill>
            </a:endParaRP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600">
                <a:solidFill>
                  <a:srgbClr val="003300"/>
                </a:solidFill>
              </a:rPr>
              <a:t>A escolha das tecnologias não devem limitar os requisitos básicos do sistema; </a:t>
            </a: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600">
                <a:solidFill>
                  <a:srgbClr val="003300"/>
                </a:solidFill>
              </a:rPr>
              <a:t>Todas as tecnologias devem ser gratuitas;</a:t>
            </a: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600">
                <a:solidFill>
                  <a:srgbClr val="003300"/>
                </a:solidFill>
              </a:rPr>
              <a:t>Não poderá ser utilizada tecnologia que precise de assinatura, mesmo que gratuita.</a:t>
            </a: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t>Calendário</a:t>
            </a:r>
          </a:p>
        </p:txBody>
      </p:sp>
      <p:pic>
        <p:nvPicPr>
          <p:cNvPr id="5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ela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0057076"/>
              </p:ext>
            </p:extLst>
          </p:nvPr>
        </p:nvGraphicFramePr>
        <p:xfrm>
          <a:off x="45688" y="1691321"/>
          <a:ext cx="11090872" cy="5029200"/>
        </p:xfrm>
        <a:graphic>
          <a:graphicData uri="http://schemas.openxmlformats.org/drawingml/2006/table">
            <a:tbl>
              <a:tblPr firstRow="1" bandRow="1">
                <a:tableStyleId>{C2BB39FE-9C42-69D8-04EC-AC500937AE76}</a:tableStyleId>
              </a:tblPr>
              <a:tblGrid>
                <a:gridCol w="1835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6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/>
                        <a:t>Atividade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24/</a:t>
                      </a:r>
                      <a:r>
                        <a:rPr lang="pt-B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jul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/>
                        <a:t>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dirty="0" err="1"/>
                        <a:t>Definição</a:t>
                      </a:r>
                      <a:r>
                        <a:rPr sz="2400" dirty="0"/>
                        <a:t> das equipes e </a:t>
                      </a:r>
                      <a:r>
                        <a:rPr sz="2400" dirty="0" err="1"/>
                        <a:t>início</a:t>
                      </a:r>
                      <a:r>
                        <a:rPr sz="2400" dirty="0"/>
                        <a:t> da </a:t>
                      </a:r>
                      <a:r>
                        <a:rPr sz="2400" dirty="0" err="1"/>
                        <a:t>etapa</a:t>
                      </a:r>
                      <a:endParaRPr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31/</a:t>
                      </a:r>
                      <a:r>
                        <a:rPr lang="pt-B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jul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/>
                        <a:t>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dirty="0" err="1"/>
                        <a:t>Desenvolvimento</a:t>
                      </a:r>
                      <a:r>
                        <a:rPr sz="2400" dirty="0"/>
                        <a:t> da </a:t>
                      </a:r>
                      <a:r>
                        <a:rPr sz="2400" dirty="0" err="1"/>
                        <a:t>etapa</a:t>
                      </a:r>
                      <a:endParaRPr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07/</a:t>
                      </a:r>
                      <a:r>
                        <a:rPr lang="pt-B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ago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/>
                        <a:t>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dirty="0"/>
                        <a:t>Desenvolvimento da etapa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14/</a:t>
                      </a:r>
                      <a:r>
                        <a:rPr lang="pt-B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ago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pt-BR" sz="2400" dirty="0"/>
                        <a:t>AP</a:t>
                      </a:r>
                      <a:endParaRPr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b="0" i="0" u="none" strike="noStrike" cap="none" spc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Apresentação da etapa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21/</a:t>
                      </a:r>
                      <a:r>
                        <a:rPr lang="pt-B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ago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/>
                        <a:t>Di1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b="0" i="0" u="none" strike="noStrike" cap="none" spc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Definição dos requisitos e início da etapa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04/set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/>
                        <a:t>Di1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0" i="0" u="none" strike="noStrike" cap="none" spc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Desenvolvimento da etapa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11/set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/>
                        <a:t>Di</a:t>
                      </a:r>
                      <a:r>
                        <a:rPr lang="pt-BR" sz="2400" dirty="0"/>
                        <a:t>1</a:t>
                      </a:r>
                      <a:endParaRPr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b="0" i="0" u="none" strike="noStrike" cap="none" spc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Desenvolvimento da etapa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18/set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/>
                        <a:t>Di</a:t>
                      </a:r>
                      <a:r>
                        <a:rPr lang="pt-BR" sz="2400" dirty="0"/>
                        <a:t>1</a:t>
                      </a:r>
                      <a:endParaRPr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b="0" i="0" u="none" strike="noStrike" cap="none" spc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Entrega da etapa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25/set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/>
                        <a:t>Di2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b="0" i="0" u="none" strike="noStrike" cap="none" spc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Definição dos requisitos e início da etapa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02/out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/>
                        <a:t>Di</a:t>
                      </a:r>
                      <a:r>
                        <a:rPr lang="pt-BR" sz="2400" dirty="0"/>
                        <a:t>2</a:t>
                      </a:r>
                      <a:endParaRPr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0" i="0" u="none" strike="noStrike" cap="none" spc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Desenvolvimento da etapa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t>Calendário</a:t>
            </a:r>
          </a:p>
        </p:txBody>
      </p:sp>
      <p:pic>
        <p:nvPicPr>
          <p:cNvPr id="5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ela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0012071"/>
              </p:ext>
            </p:extLst>
          </p:nvPr>
        </p:nvGraphicFramePr>
        <p:xfrm>
          <a:off x="45688" y="1691321"/>
          <a:ext cx="11090872" cy="5029200"/>
        </p:xfrm>
        <a:graphic>
          <a:graphicData uri="http://schemas.openxmlformats.org/drawingml/2006/table">
            <a:tbl>
              <a:tblPr firstRow="1" bandRow="1">
                <a:tableStyleId>{C2BB39FE-9C42-69D8-04EC-AC500937AE76}</a:tableStyleId>
              </a:tblPr>
              <a:tblGrid>
                <a:gridCol w="1835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6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/>
                        <a:t>Atividade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03/out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/>
                        <a:t>Di</a:t>
                      </a:r>
                      <a:r>
                        <a:rPr lang="pt-BR" sz="2400" dirty="0"/>
                        <a:t>2</a:t>
                      </a:r>
                      <a:endParaRPr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b="0" i="0" u="none" strike="noStrike" cap="none" spc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Desenvolvimento da etapa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09/out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/>
                        <a:t>Di</a:t>
                      </a:r>
                      <a:r>
                        <a:rPr lang="pt-BR" sz="2400" dirty="0"/>
                        <a:t>2</a:t>
                      </a:r>
                      <a:endParaRPr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dirty="0"/>
                        <a:t>Entrega da etapa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16/out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/>
                        <a:t>Di</a:t>
                      </a:r>
                      <a:r>
                        <a:rPr lang="pt-BR" sz="2400" dirty="0"/>
                        <a:t>3</a:t>
                      </a:r>
                      <a:endParaRPr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b="0" i="0" u="none" strike="noStrike" cap="none" spc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Definição dos requisitos e início da etapa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23/out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/>
                        <a:t>Di</a:t>
                      </a:r>
                      <a:r>
                        <a:rPr lang="pt-BR" sz="2400" dirty="0"/>
                        <a:t>3</a:t>
                      </a:r>
                      <a:endParaRPr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b="0" i="0" u="none" strike="noStrike" cap="none" spc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Desenvolvimento da etapa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30/out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/>
                        <a:t>Di</a:t>
                      </a:r>
                      <a:r>
                        <a:rPr lang="pt-BR" sz="2400" dirty="0"/>
                        <a:t>3</a:t>
                      </a:r>
                      <a:endParaRPr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b="0" i="0" u="none" strike="noStrike" cap="none" spc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Desenvolvimento da etapa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06/</a:t>
                      </a:r>
                      <a:r>
                        <a:rPr lang="pt-B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nov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pt-BR" sz="2400" dirty="0"/>
                        <a:t>Di3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dirty="0"/>
                        <a:t>Entrega da etapa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13/</a:t>
                      </a:r>
                      <a:r>
                        <a:rPr lang="pt-B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nov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pt-BR" sz="2400" dirty="0"/>
                        <a:t>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Início da etapa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27/</a:t>
                      </a:r>
                      <a:r>
                        <a:rPr lang="pt-B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nov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pt-BR" sz="2400" dirty="0"/>
                        <a:t>AF</a:t>
                      </a:r>
                      <a:endParaRPr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Entrega da etapa - Apresentação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04/dez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pt-BR" sz="2400" dirty="0"/>
                        <a:t>-</a:t>
                      </a:r>
                      <a:endParaRPr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Revisão da disciplina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11/dez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pt-BR" sz="2400" dirty="0"/>
                        <a:t>-</a:t>
                      </a:r>
                      <a:endParaRPr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Encerramento da disciplina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1085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800"/>
              <a:t>Definição breve do sistema</a:t>
            </a:r>
            <a:endParaRPr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261872" y="1828800"/>
            <a:ext cx="9082600" cy="4351337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lang="pt-BR" sz="3600" dirty="0">
                <a:solidFill>
                  <a:schemeClr val="tx1"/>
                </a:solidFill>
              </a:rPr>
              <a:t>Aplicativo </a:t>
            </a:r>
            <a:r>
              <a:rPr lang="pt-BR" sz="3600" i="1" dirty="0">
                <a:solidFill>
                  <a:schemeClr val="tx1"/>
                </a:solidFill>
              </a:rPr>
              <a:t>mobile </a:t>
            </a:r>
            <a:r>
              <a:rPr lang="pt-BR" sz="3600" dirty="0"/>
              <a:t>para gerenciamento de reuniões;</a:t>
            </a:r>
            <a:endParaRPr sz="3600" dirty="0"/>
          </a:p>
          <a:p>
            <a:pPr lvl="0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600" i="0" dirty="0">
                <a:solidFill>
                  <a:schemeClr val="tx1"/>
                </a:solidFill>
              </a:rPr>
              <a:t>Aplicativo deve ser disponível para Android e iOS;</a:t>
            </a:r>
          </a:p>
          <a:p>
            <a:pPr lvl="0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600" i="0" dirty="0">
                <a:solidFill>
                  <a:schemeClr val="tx1"/>
                </a:solidFill>
              </a:rPr>
              <a:t>Gratuito e </a:t>
            </a:r>
            <a:r>
              <a:rPr lang="pt-BR" sz="3600" i="1" dirty="0">
                <a:solidFill>
                  <a:schemeClr val="tx1"/>
                </a:solidFill>
              </a:rPr>
              <a:t>open-</a:t>
            </a:r>
            <a:r>
              <a:rPr lang="pt-BR" sz="3600" i="1" dirty="0" err="1">
                <a:solidFill>
                  <a:schemeClr val="tx1"/>
                </a:solidFill>
              </a:rPr>
              <a:t>source</a:t>
            </a:r>
            <a:r>
              <a:rPr lang="pt-BR" sz="3600" i="0" dirty="0">
                <a:solidFill>
                  <a:schemeClr val="tx1"/>
                </a:solidFill>
              </a:rPr>
              <a:t>;</a:t>
            </a:r>
          </a:p>
          <a:p>
            <a:pPr lvl="0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600" i="0" dirty="0">
                <a:solidFill>
                  <a:schemeClr val="tx1"/>
                </a:solidFill>
              </a:rPr>
              <a:t>Custo zero para o cliente.</a:t>
            </a:r>
            <a:endParaRPr lang="pt-BR" sz="3600" i="0" dirty="0"/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800" dirty="0"/>
              <a:t>Características obrigatórias</a:t>
            </a:r>
            <a:endParaRPr dirty="0"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261872" y="1828800"/>
            <a:ext cx="9082600" cy="4351337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 lnSpcReduction="10000"/>
          </a:bodyPr>
          <a:lstStyle/>
          <a:p>
            <a:pPr lvl="0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600" i="0" dirty="0">
                <a:solidFill>
                  <a:schemeClr val="tx1"/>
                </a:solidFill>
              </a:rPr>
              <a:t>Facilidade e simplicidade no uso;</a:t>
            </a:r>
            <a:endParaRPr lang="pt-BR" sz="3600" i="0" dirty="0"/>
          </a:p>
          <a:p>
            <a:pPr>
              <a:defRPr/>
            </a:pPr>
            <a:r>
              <a:rPr lang="pt-BR" sz="3600" i="0" dirty="0"/>
              <a:t>Interface deve ser agradável</a:t>
            </a:r>
            <a:r>
              <a:rPr lang="pt-BR" sz="3600" dirty="0"/>
              <a:t>,</a:t>
            </a:r>
            <a:r>
              <a:rPr lang="pt-BR" sz="3600" i="0" dirty="0"/>
              <a:t> intuitiva e responsiva</a:t>
            </a:r>
            <a:r>
              <a:rPr lang="pt-BR" sz="3600" dirty="0"/>
              <a:t>;</a:t>
            </a:r>
          </a:p>
          <a:p>
            <a:pPr>
              <a:defRPr/>
            </a:pPr>
            <a:r>
              <a:rPr lang="pt-BR" sz="3600" dirty="0"/>
              <a:t>Segurança no armazenamento e no acesso das informações.</a:t>
            </a:r>
          </a:p>
          <a:p>
            <a:pPr>
              <a:defRPr/>
            </a:pPr>
            <a:r>
              <a:rPr lang="pt-BR" sz="3600" i="0" dirty="0"/>
              <a:t>Não será necessário publicar o aplicativo n</a:t>
            </a:r>
            <a:r>
              <a:rPr lang="pt-BR" sz="3600" dirty="0"/>
              <a:t>as lojas de dispositivos móveis.</a:t>
            </a: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939602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Personalizada 26">
      <a:dk1>
        <a:srgbClr val="003300"/>
      </a:dk1>
      <a:lt1>
        <a:srgbClr val="FFFFFF"/>
      </a:lt1>
      <a:dk2>
        <a:srgbClr val="008000"/>
      </a:dk2>
      <a:lt2>
        <a:srgbClr val="D6D3CC"/>
      </a:lt2>
      <a:accent1>
        <a:srgbClr val="003300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Corbel">
      <a:majorFont>
        <a:latin typeface="Corbel"/>
        <a:ea typeface="Arial"/>
        <a:cs typeface="Arial"/>
      </a:majorFont>
      <a:minorFont>
        <a:latin typeface="Corbel"/>
        <a:ea typeface="Arial"/>
        <a:cs typeface="Arial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satMod val="150000"/>
              <a:alpha val="9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TM02900743[[fn=Orgânico]]</Template>
  <TotalTime>120</TotalTime>
  <Words>1446</Words>
  <Application>Microsoft Office PowerPoint</Application>
  <DocSecurity>0</DocSecurity>
  <PresentationFormat>Widescreen</PresentationFormat>
  <Paragraphs>206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Arial</vt:lpstr>
      <vt:lpstr>Corbel</vt:lpstr>
      <vt:lpstr>Wingdings 2</vt:lpstr>
      <vt:lpstr>View</vt:lpstr>
      <vt:lpstr>Projeto e Desenvolvimento de Sistemas II</vt:lpstr>
      <vt:lpstr>Informações da disciplina</vt:lpstr>
      <vt:lpstr>Bibliografia</vt:lpstr>
      <vt:lpstr>Execução</vt:lpstr>
      <vt:lpstr>Avaliação</vt:lpstr>
      <vt:lpstr>Análise de mercado e Proposta inicial</vt:lpstr>
      <vt:lpstr>Análise de mercado e Proposta inicial</vt:lpstr>
      <vt:lpstr>Análise de mercado e Proposta inicial</vt:lpstr>
      <vt:lpstr>Análise de mercado e Proposta inicial</vt:lpstr>
      <vt:lpstr>Análise de mercado e Proposta inicial</vt:lpstr>
      <vt:lpstr>Desenvolvimento de incrementos</vt:lpstr>
      <vt:lpstr>Desenvolvimento de incrementos</vt:lpstr>
      <vt:lpstr>Desenvolvimento de incrementos</vt:lpstr>
      <vt:lpstr>Desenvolvimento de incrementos</vt:lpstr>
      <vt:lpstr>Desenvolvimento de incrementos</vt:lpstr>
      <vt:lpstr>Apresentação final</vt:lpstr>
      <vt:lpstr>Apresentação final</vt:lpstr>
      <vt:lpstr>Apresentação final</vt:lpstr>
      <vt:lpstr>Tecnologias utilizadas</vt:lpstr>
      <vt:lpstr>Calendário</vt:lpstr>
      <vt:lpstr>Calendário</vt:lpstr>
      <vt:lpstr>Definição breve do sistema</vt:lpstr>
      <vt:lpstr>Características obrigatórias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Integrado 2</dc:title>
  <dc:subject/>
  <dc:creator>aluno</dc:creator>
  <cp:keywords/>
  <dc:description/>
  <cp:lastModifiedBy>Tiago Docusse</cp:lastModifiedBy>
  <cp:revision>270</cp:revision>
  <dcterms:created xsi:type="dcterms:W3CDTF">2017-07-05T21:06:24Z</dcterms:created>
  <dcterms:modified xsi:type="dcterms:W3CDTF">2026-07-29T02:49:11Z</dcterms:modified>
  <cp:category/>
  <dc:identifier/>
  <cp:contentStatus/>
  <dc:language/>
  <cp:version/>
</cp:coreProperties>
</file>